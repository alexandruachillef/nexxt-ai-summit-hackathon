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Records</c:v>
                </c:pt>
              </c:strCache>
            </c:strRef>
          </c:tx>
          <c:spPr>
            <a:solidFill>
              <a:srgbClr val="0A1A33"/>
            </a:solidFill>
          </c:spPr>
          <c:dPt>
            <c:idx val="1"/>
            <c:spPr>
              <a:solidFill>
                <a:srgbClr val="2557D6"/>
              </a:solidFill>
            </c:spPr>
          </c:dPt>
          <c:cat>
            <c:strRef>
              <c:f>Sheet1!$A$2:$A$3</c:f>
              <c:strCache>
                <c:ptCount val="2"/>
                <c:pt idx="0">
                  <c:v>Checked</c:v>
                </c:pt>
                <c:pt idx="1">
                  <c:v>Corrected</c:v>
                </c:pt>
              </c:strCache>
            </c:strRef>
          </c:cat>
          <c:val>
            <c:numRef>
              <c:f>Sheet1!$B$2:$B$3</c:f>
              <c:numCache>
                <c:formatCode>General</c:formatCode>
                <c:ptCount val="2"/>
                <c:pt idx="0">
                  <c:v>3204</c:v>
                </c:pt>
                <c:pt idx="1">
                  <c:v>891</c:v>
                </c:pt>
              </c:numCache>
            </c:numRef>
          </c:val>
        </c:ser>
        <c:dLbls>
          <c:numFmt formatCode="#,##0" sourceLinked="0"/>
          <c:txPr>
            <a:bodyPr/>
            <a:lstStyle/>
            <a:p>
              <a:pPr>
                <a:defRPr sz="1200" b="1">
                  <a:solidFill>
                    <a:srgbClr val="0A1A33"/>
                  </a:solidFill>
                  <a:latin typeface="Inter"/>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9DEE6"/>
            </a:solidFill>
          </a:ln>
        </c:spPr>
        <c:txPr>
          <a:bodyPr/>
          <a:lstStyle/>
          <a:p>
            <a:pPr>
              <a:defRPr sz="1200">
                <a:solidFill>
                  <a:srgbClr val="0A1A33"/>
                </a:solidFill>
                <a:latin typeface="Inter"/>
              </a:defRPr>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5E6B7E"/>
          </a:solidFill>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Minimum, 2,000 lei per account</c:v>
                </c:pt>
              </c:strCache>
            </c:strRef>
          </c:tx>
          <c:spPr>
            <a:solidFill>
              <a:srgbClr val="C9D6EE"/>
            </a:solidFill>
          </c:spPr>
          <c:cat>
            <c:strRef>
              <c:f>Sheet1!$A$2:$A$5</c:f>
              <c:strCache>
                <c:ptCount val="4"/>
                <c:pt idx="0">
                  <c:v>10 accounts</c:v>
                </c:pt>
                <c:pt idx="1">
                  <c:v>100 accounts</c:v>
                </c:pt>
                <c:pt idx="2">
                  <c:v>500 accounts</c:v>
                </c:pt>
                <c:pt idx="3">
                  <c:v>1,000 accounts</c:v>
                </c:pt>
              </c:strCache>
            </c:strRef>
          </c:cat>
          <c:val>
            <c:numRef>
              <c:f>Sheet1!$B$2:$B$5</c:f>
              <c:numCache>
                <c:formatCode>General</c:formatCode>
                <c:ptCount val="4"/>
                <c:pt idx="0">
                  <c:v>20</c:v>
                </c:pt>
                <c:pt idx="1">
                  <c:v>200</c:v>
                </c:pt>
                <c:pt idx="2">
                  <c:v>1000</c:v>
                </c:pt>
                <c:pt idx="3">
                  <c:v>2000</c:v>
                </c:pt>
              </c:numCache>
            </c:numRef>
          </c:val>
        </c:ser>
        <c:ser>
          <c:idx val="1"/>
          <c:order val="1"/>
          <c:tx>
            <c:strRef>
              <c:f>Sheet1!$C$1</c:f>
              <c:strCache>
                <c:ptCount val="1"/>
                <c:pt idx="0">
                  <c:v>Maximum, 5,000 lei per account</c:v>
                </c:pt>
              </c:strCache>
            </c:strRef>
          </c:tx>
          <c:spPr>
            <a:solidFill>
              <a:srgbClr val="0A1A33"/>
            </a:solidFill>
          </c:spPr>
          <c:cat>
            <c:strRef>
              <c:f>Sheet1!$A$2:$A$5</c:f>
              <c:strCache>
                <c:ptCount val="4"/>
                <c:pt idx="0">
                  <c:v>10 accounts</c:v>
                </c:pt>
                <c:pt idx="1">
                  <c:v>100 accounts</c:v>
                </c:pt>
                <c:pt idx="2">
                  <c:v>500 accounts</c:v>
                </c:pt>
                <c:pt idx="3">
                  <c:v>1,000 accounts</c:v>
                </c:pt>
              </c:strCache>
            </c:strRef>
          </c:cat>
          <c:val>
            <c:numRef>
              <c:f>Sheet1!$C$2:$C$5</c:f>
              <c:numCache>
                <c:formatCode>General</c:formatCode>
                <c:ptCount val="4"/>
                <c:pt idx="0">
                  <c:v>50</c:v>
                </c:pt>
                <c:pt idx="1">
                  <c:v>500</c:v>
                </c:pt>
                <c:pt idx="2">
                  <c:v>2500</c:v>
                </c:pt>
                <c:pt idx="3">
                  <c:v>5000</c:v>
                </c:pt>
              </c:numCache>
            </c:numRef>
          </c:val>
        </c:ser>
        <c:dLbls>
          <c:numFmt formatCode="#,##0" sourceLinked="0"/>
          <c:txPr>
            <a:bodyPr/>
            <a:lstStyle/>
            <a:p>
              <a:pPr>
                <a:defRPr sz="1200" b="1">
                  <a:solidFill>
                    <a:srgbClr val="0A1A33"/>
                  </a:solidFill>
                  <a:latin typeface="Inter"/>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D9DEE6"/>
            </a:solidFill>
          </a:ln>
        </c:spPr>
        <c:txPr>
          <a:bodyPr/>
          <a:lstStyle/>
          <a:p>
            <a:pPr>
              <a:defRPr sz="1200">
                <a:solidFill>
                  <a:srgbClr val="0A1A33"/>
                </a:solidFill>
                <a:latin typeface="Inter"/>
              </a:defRPr>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pPr>
          </a:p>
        </c:txPr>
        <c:crossAx val="-2068027336"/>
        <c:crosses val="autoZero"/>
      </c:valAx>
    </c:plotArea>
    <c:legend>
      <c:legendPos val="t"/>
      <c:overlay val="0"/>
      <c:txPr>
        <a:bodyPr/>
        <a:lstStyle/>
        <a:p>
          <a:pPr>
            <a:defRPr sz="1100">
              <a:latin typeface="Inter"/>
            </a:defRPr>
          </a:pPr>
        </a:p>
      </c:txPr>
    </c:legend>
    <c:dispBlanksAs val="gap"/>
  </c:chart>
  <c:txPr>
    <a:bodyPr/>
    <a:lstStyle/>
    <a:p>
      <a:pPr>
        <a:defRPr sz="1100">
          <a:solidFill>
            <a:srgbClr val="5E6B7E"/>
          </a:solidFill>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Rules</c:v>
                </c:pt>
              </c:strCache>
            </c:strRef>
          </c:tx>
          <c:spPr>
            <a:solidFill>
              <a:srgbClr val="FFFFFF"/>
            </a:solidFill>
          </c:spPr>
          <c:dPt>
            <c:idx val="0"/>
            <c:spPr>
              <a:solidFill>
                <a:srgbClr val="FFFFFF"/>
              </a:solidFill>
              <a:ln>
                <a:solidFill>
                  <a:srgbClr val="0A1A33"/>
                </a:solidFill>
              </a:ln>
            </c:spPr>
          </c:dPt>
          <c:dPt>
            <c:idx val="1"/>
            <c:spPr>
              <a:solidFill>
                <a:srgbClr val="8DB0F5"/>
              </a:solidFill>
              <a:ln>
                <a:solidFill>
                  <a:srgbClr val="0A1A33"/>
                </a:solidFill>
              </a:ln>
            </c:spPr>
          </c:dPt>
          <c:dPt>
            <c:idx val="2"/>
            <c:spPr>
              <a:solidFill>
                <a:srgbClr val="4A5F86"/>
              </a:solidFill>
              <a:ln>
                <a:solidFill>
                  <a:srgbClr val="0A1A33"/>
                </a:solidFill>
              </a:ln>
            </c:spPr>
          </c:dPt>
          <c:cat>
            <c:strRef>
              <c:f>Sheet1!$A$2:$A$4</c:f>
              <c:strCache>
                <c:ptCount val="3"/>
                <c:pt idx="0">
                  <c:v>From the law and the ANAF guide</c:v>
                </c:pt>
                <c:pt idx="1">
                  <c:v>Our documented reading</c:v>
                </c:pt>
                <c:pt idx="2">
                  <c:v>Bank policy</c:v>
                </c:pt>
              </c:strCache>
            </c:strRef>
          </c:cat>
          <c:val>
            <c:numRef>
              <c:f>Sheet1!$B$2:$B$4</c:f>
              <c:numCache>
                <c:formatCode>General</c:formatCode>
                <c:ptCount val="3"/>
                <c:pt idx="0">
                  <c:v>24</c:v>
                </c:pt>
                <c:pt idx="1">
                  <c:v>3</c:v>
                </c:pt>
                <c:pt idx="2">
                  <c:v>2</c:v>
                </c:pt>
              </c:numCache>
            </c:numRef>
          </c:val>
        </c:ser>
        <c:dLbls>
          <c:showLegendKey val="0"/>
          <c:showVal val="0"/>
          <c:showCatName val="0"/>
          <c:showSerName val="0"/>
          <c:showPercent val="0"/>
          <c:showBubbleSize val="0"/>
          <c:showLeaderLines val="1"/>
        </c:dLbls>
        <c:firstSliceAng val="0"/>
        <c:holeSize val="72"/>
      </c:doughnutChart>
    </c:plotArea>
    <c:plotVisOnly val="1"/>
    <c:dispBlanksAs val="gap"/>
    <c:showDLblsOverMax val="0"/>
  </c:chart>
  <c:txPr>
    <a:bodyPr/>
    <a:lstStyle/>
    <a:p>
      <a:pPr>
        <a:defRPr sz="1100">
          <a:solidFill>
            <a:srgbClr val="9AA8BF"/>
          </a:solidFill>
          <a:latin typeface="Inter"/>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Passed</c:v>
                </c:pt>
              </c:strCache>
            </c:strRef>
          </c:tx>
          <c:spPr>
            <a:solidFill>
              <a:srgbClr val="0A1A33"/>
            </a:solidFill>
          </c:spPr>
          <c:dLbls>
            <c:dLbl>
              <c:idx val="0"/>
              <c:tx>
                <c:rich>
                  <a:bodyPr/>
                  <a:lstStyle/>
                  <a:p>
                    <a:r>
                      <a:rPr sz="1200" b="1">
                        <a:solidFill>
                          <a:srgbClr val="0A1A33"/>
                        </a:solidFill>
                        <a:latin typeface="Inter"/>
                      </a:rPr>
                      <a:t>8 / 8</a:t>
                    </a:r>
                  </a:p>
                </c:rich>
              </c:tx>
              <c:showLegendKey val="0"/>
              <c:showVal val="1"/>
              <c:showCatName val="0"/>
              <c:showSerName val="0"/>
              <c:showPercent val="0"/>
              <c:showBubbleSize val="0"/>
            </c:dLbl>
            <c:dLbl>
              <c:idx val="1"/>
              <c:tx>
                <c:rich>
                  <a:bodyPr/>
                  <a:lstStyle/>
                  <a:p>
                    <a:r>
                      <a:rPr sz="1200" b="1">
                        <a:solidFill>
                          <a:srgbClr val="0A1A33"/>
                        </a:solidFill>
                        <a:latin typeface="Inter"/>
                      </a:rPr>
                      <a:t>5 / 5</a:t>
                    </a:r>
                  </a:p>
                </c:rich>
              </c:tx>
              <c:showLegendKey val="0"/>
              <c:showVal val="1"/>
              <c:showCatName val="0"/>
              <c:showSerName val="0"/>
              <c:showPercent val="0"/>
              <c:showBubbleSize val="0"/>
            </c:dLbl>
            <c:dLbl>
              <c:idx val="2"/>
              <c:tx>
                <c:rich>
                  <a:bodyPr/>
                  <a:lstStyle/>
                  <a:p>
                    <a:r>
                      <a:rPr sz="1200" b="1">
                        <a:solidFill>
                          <a:srgbClr val="0A1A33"/>
                        </a:solidFill>
                        <a:latin typeface="Inter"/>
                      </a:rPr>
                      <a:t>4 / 4</a:t>
                    </a:r>
                  </a:p>
                </c:rich>
              </c:tx>
              <c:showLegendKey val="0"/>
              <c:showVal val="1"/>
              <c:showCatName val="0"/>
              <c:showSerName val="0"/>
              <c:showPercent val="0"/>
              <c:showBubbleSize val="0"/>
            </c:dLbl>
            <c:dLbl>
              <c:idx val="3"/>
              <c:tx>
                <c:rich>
                  <a:bodyPr/>
                  <a:lstStyle/>
                  <a:p>
                    <a:r>
                      <a:rPr sz="1200" b="1">
                        <a:solidFill>
                          <a:srgbClr val="0A1A33"/>
                        </a:solidFill>
                        <a:latin typeface="Inter"/>
                      </a:rPr>
                      <a:t>38 / 38</a:t>
                    </a:r>
                  </a:p>
                </c:rich>
              </c:tx>
              <c:showLegendKey val="0"/>
              <c:showVal val="1"/>
              <c:showCatName val="0"/>
              <c:showSerName val="0"/>
              <c:showPercent val="0"/>
              <c:showBubbleSize val="0"/>
            </c:dLbl>
            <c:dLbl>
              <c:idx val="4"/>
              <c:tx>
                <c:rich>
                  <a:bodyPr/>
                  <a:lstStyle/>
                  <a:p>
                    <a:r>
                      <a:rPr sz="1200" b="1">
                        <a:solidFill>
                          <a:srgbClr val="0A1A33"/>
                        </a:solidFill>
                        <a:latin typeface="Inter"/>
                      </a:rPr>
                      <a:t>10 / 10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Clean PDFs left untouched</c:v>
                </c:pt>
                <c:pt idx="1">
                  <c:v>Hidden texts removed by the shield</c:v>
                </c:pt>
                <c:pt idx="2">
                  <c:v>Hidden-text quotes rejected</c:v>
                </c:pt>
                <c:pt idx="3">
                  <c:v>Invented quotes rejected</c:v>
                </c:pt>
                <c:pt idx="4">
                  <c:v>True quotes accepted</c:v>
                </c:pt>
              </c:strCache>
            </c:strRef>
          </c:cat>
          <c:val>
            <c:numRef>
              <c:f>Sheet1!$B$2:$B$6</c:f>
              <c:numCache>
                <c:formatCode>General</c:formatCode>
                <c:ptCount val="5"/>
                <c:pt idx="0">
                  <c:v>8</c:v>
                </c:pt>
                <c:pt idx="1">
                  <c:v>5</c:v>
                </c:pt>
                <c:pt idx="2">
                  <c:v>4</c:v>
                </c:pt>
                <c:pt idx="3">
                  <c:v>38</c:v>
                </c:pt>
                <c:pt idx="4">
                  <c:v>10</c:v>
                </c:pt>
              </c:numCache>
            </c:numRef>
          </c:val>
        </c:ser>
        <c:dLbls>
          <c:numFmt formatCode="#,##0" sourceLinked="0"/>
          <c:txPr>
            <a:bodyPr/>
            <a:lstStyle/>
            <a:p>
              <a:pPr>
                <a:defRPr sz="1200" b="1">
                  <a:solidFill>
                    <a:srgbClr val="0A1A33"/>
                  </a:solidFill>
                  <a:latin typeface="Inter"/>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9DEE6"/>
            </a:solidFill>
          </a:ln>
        </c:spPr>
        <c:txPr>
          <a:bodyPr/>
          <a:lstStyle/>
          <a:p>
            <a:pPr>
              <a:defRPr sz="1200">
                <a:solidFill>
                  <a:srgbClr val="0A1A33"/>
                </a:solidFill>
                <a:latin typeface="Inter"/>
              </a:defRPr>
            </a:pPr>
          </a:p>
        </c:txPr>
        <c:crossAx val="-2113994440"/>
        <c:crosses val="autoZero"/>
        <c:auto val="1"/>
        <c:lblAlgn val="ctr"/>
        <c:lblOffset val="100"/>
        <c:noMultiLvlLbl val="0"/>
      </c:catAx>
      <c:valAx>
        <c:axId val="-2113994440"/>
        <c:scaling/>
        <c:delete/>
        <c:axPos val="b"/>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5E6B7E"/>
          </a:solidFill>
          <a:latin typeface="Inte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Expected</c:v>
                </c:pt>
              </c:strCache>
            </c:strRef>
          </c:tx>
          <c:spPr>
            <a:solidFill>
              <a:srgbClr val="4A5F86"/>
            </a:solidFill>
          </c:spPr>
          <c:cat>
            <c:strRef>
              <c:f>Sheet1!$A$2:$A$3</c:f>
              <c:strCache>
                <c:ptCount val="2"/>
                <c:pt idx="0">
                  <c:v>21 golden cases</c:v>
                </c:pt>
                <c:pt idx="1">
                  <c:v>50 synthetic customers</c:v>
                </c:pt>
              </c:strCache>
            </c:strRef>
          </c:cat>
          <c:val>
            <c:numRef>
              <c:f>Sheet1!$B$2:$B$3</c:f>
              <c:numCache>
                <c:formatCode>General</c:formatCode>
                <c:ptCount val="2"/>
                <c:pt idx="0">
                  <c:v>13</c:v>
                </c:pt>
                <c:pt idx="1">
                  <c:v>10</c:v>
                </c:pt>
              </c:numCache>
            </c:numRef>
          </c:val>
        </c:ser>
        <c:ser>
          <c:idx val="1"/>
          <c:order val="1"/>
          <c:tx>
            <c:strRef>
              <c:f>Sheet1!$C$1</c:f>
              <c:strCache>
                <c:ptCount val="1"/>
                <c:pt idx="0">
                  <c:v>Caught</c:v>
                </c:pt>
              </c:strCache>
            </c:strRef>
          </c:tx>
          <c:spPr>
            <a:solidFill>
              <a:srgbClr val="FFFFFF"/>
            </a:solidFill>
          </c:spPr>
          <c:cat>
            <c:strRef>
              <c:f>Sheet1!$A$2:$A$3</c:f>
              <c:strCache>
                <c:ptCount val="2"/>
                <c:pt idx="0">
                  <c:v>21 golden cases</c:v>
                </c:pt>
                <c:pt idx="1">
                  <c:v>50 synthetic customers</c:v>
                </c:pt>
              </c:strCache>
            </c:strRef>
          </c:cat>
          <c:val>
            <c:numRef>
              <c:f>Sheet1!$C$2:$C$3</c:f>
              <c:numCache>
                <c:formatCode>General</c:formatCode>
                <c:ptCount val="2"/>
                <c:pt idx="0">
                  <c:v>13</c:v>
                </c:pt>
                <c:pt idx="1">
                  <c:v>10</c:v>
                </c:pt>
              </c:numCache>
            </c:numRef>
          </c:val>
        </c:ser>
        <c:ser>
          <c:idx val="2"/>
          <c:order val="2"/>
          <c:tx>
            <c:strRef>
              <c:f>Sheet1!$D$1</c:f>
              <c:strCache>
                <c:ptCount val="1"/>
                <c:pt idx="0">
                  <c:v>False alarms</c:v>
                </c:pt>
              </c:strCache>
            </c:strRef>
          </c:tx>
          <c:spPr>
            <a:solidFill>
              <a:srgbClr val="8DB0F5"/>
            </a:solidFill>
          </c:spPr>
          <c:cat>
            <c:strRef>
              <c:f>Sheet1!$A$2:$A$3</c:f>
              <c:strCache>
                <c:ptCount val="2"/>
                <c:pt idx="0">
                  <c:v>21 golden cases</c:v>
                </c:pt>
                <c:pt idx="1">
                  <c:v>50 synthetic customers</c:v>
                </c:pt>
              </c:strCache>
            </c:strRef>
          </c:cat>
          <c:val>
            <c:numRef>
              <c:f>Sheet1!$D$2:$D$3</c:f>
              <c:numCache>
                <c:formatCode>General</c:formatCode>
                <c:ptCount val="2"/>
                <c:pt idx="0">
                  <c:v>0</c:v>
                </c:pt>
                <c:pt idx="1">
                  <c:v>0</c:v>
                </c:pt>
              </c:numCache>
            </c:numRef>
          </c:val>
        </c:ser>
        <c:dLbls>
          <c:numFmt formatCode="#,##0" sourceLinked="0"/>
          <c:txPr>
            <a:bodyPr/>
            <a:lstStyle/>
            <a:p>
              <a:pPr>
                <a:defRPr sz="1200" b="1">
                  <a:solidFill>
                    <a:srgbClr val="FFFFFF"/>
                  </a:solidFill>
                  <a:latin typeface="Inter"/>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2A3B5C"/>
            </a:solidFill>
          </a:ln>
        </c:spPr>
        <c:txPr>
          <a:bodyPr/>
          <a:lstStyle/>
          <a:p>
            <a:pPr>
              <a:defRPr sz="1200">
                <a:solidFill>
                  <a:srgbClr val="FFFFFF"/>
                </a:solidFill>
                <a:latin typeface="Inter"/>
              </a:defRPr>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pPr>
          </a:p>
        </c:txPr>
        <c:crossAx val="-2068027336"/>
        <c:crosses val="autoZero"/>
      </c:valAx>
    </c:plotArea>
    <c:legend>
      <c:legendPos val="t"/>
      <c:overlay val="0"/>
      <c:txPr>
        <a:bodyPr/>
        <a:lstStyle/>
        <a:p>
          <a:pPr>
            <a:defRPr sz="1100">
              <a:latin typeface="Inter"/>
            </a:defRPr>
          </a:pPr>
        </a:p>
      </c:txPr>
    </c:legend>
    <c:dispBlanksAs val="gap"/>
  </c:chart>
  <c:txPr>
    <a:bodyPr/>
    <a:lstStyle/>
    <a:p>
      <a:pPr>
        <a:defRPr sz="1100">
          <a:solidFill>
            <a:srgbClr val="9AA8BF"/>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not the technology.</a:t>
            </a:r>
          </a:p>
          <a:p>
            <a:r>
              <a:t>When a customer changes their address, phone, standing order or power of attorney, the bank must ask one question again: where does this customer pay tax now? For a new account, the ANAF guide gives the bank 90 days to get a new self-certification. Today, an operator answers that question by hand, against the guide, and keeps the date in mind.</a:t>
            </a:r>
          </a:p>
          <a:p>
            <a:r>
              <a:t>TRACE turns every data change into a decision before the deadline: code decides, AI explains, a person approves.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pressure is real and it is current. In the first half of 2025, after 8 feedback requests from other EU states, ANAF checked 3,204 records reported by financial institutions; 891 had to be corrected, about 28%. These are sector-wide figures, not Raiffeisen's.</a:t>
            </a:r>
          </a:p>
          <a:p>
            <a:r>
              <a:t>The fine is per account reported wrongly: 2,000 to 5,000 lei, and 5,000 to 10,000 lei without due diligence procedures.</a:t>
            </a:r>
          </a:p>
          <a:p>
            <a:r>
              <a:t>Raiffeisen serves about 2.4 million customers whose tax residency has to stay current every time their data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fine is per account, the exposure grows with volume. This chart is an illustration, not a forecast: the fine set by law, 2,000 to 5,000 lei per account reported wrongly, multiplied by the number of accounts. Without due diligence procedures the fine doubles, to 5,000-10,000 lei per account.</a:t>
            </a:r>
          </a:p>
          <a:p>
            <a:r>
              <a:t>We do not claim how many accounts any bank reports wrongly. The point is the shape: a process that depends on memory and manual comparison carries a risk that grows with every customer.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with one customer. Maria Popescu, a new account, moves to Munich and replaces her Romanian phone with a German one.</a:t>
            </a:r>
          </a:p>
          <a:p>
            <a:r>
              <a:t>Two facts in the bank's data now match the closed list of CRS indicia: a residence address in Germany (CRS-IND-ADDR, guide p. 29 letter b) and a German phone with no Romanian phone (CRS-IND-PHONE, p. 29 letter c).</a:t>
            </a:r>
          </a:p>
          <a:p>
            <a:r>
              <a:t>From the day the bank learns of the change, the clock runs. On day 85 TRACE reminds the operator and escalates to the tax department. With no valid answer by day 90, Maria is treated as resident in Romania and in Germany.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are precise, and they cut both ways. Miss an indicium and the account is reported wrongly: a fine per account. Raise a false alarm and an operator works a case that should not exist, and the customer gets a letter they should never have received.</a:t>
            </a:r>
          </a:p>
          <a:p>
            <a:r>
              <a:t>A German phone next to a Romanian one is not an indicium (p. 29 c). A standing order to Germany from a current account is exempt under CRS (p. 29 d). The same order to the US is a FATCA alert (p. 31). A move from Cluj to Iasi opens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design in one sentence: code decides, AI explains, a person approves.</a:t>
            </a:r>
          </a:p>
          <a:p>
            <a:r>
              <a:t>Code applies 29 rules, each with an ID and a source: 24 come straight from the text of the law and the ANAF guide, 3 are our documented reading where the guide is silent, and 2 are bank policy. Every decision cites its page.</a:t>
            </a:r>
          </a:p>
          <a:p>
            <a:r>
              <a:t>The AI agent does only what code cannot: it reads documents, quotes evidence and drafts the letter. A person approves every letter and every closing. Every step goes into a tamper-evident audit 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tool-using agent, CRS Sentinel, with 14 tools. The rules are a closed list, so more agents would add nothing.</a:t>
            </a:r>
          </a:p>
          <a:p>
            <a:r>
              <a:t>When a case opens, the agent reads the customer's documents through the shield, records each quote as evidence (code checks it), records context signals and drafts the letter; sending waits for a person.</a:t>
            </a:r>
          </a:p>
          <a:p>
            <a:r>
              <a:t>When the customer answers, it extracts the new self-certification, checks the TIN format (format valid, never TIN valid), registers the answer and code re-runs the rules; closing waits for a person.</a:t>
            </a:r>
          </a:p>
          <a:p>
            <a:r>
              <a:t>Live on Claude via Amazon Bedrock, us-west-2; with no model, a mock runs the same real tools.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output of the model is checked by code before it counts. On our test bench:</a:t>
            </a:r>
          </a:p>
          <a:p>
            <a:r>
              <a:t>10 of 10 true quotes accepted; 38 of 38 invented quotes rejected; 4 of 4 quotes that exist only in hidden text rejected.</a:t>
            </a:r>
          </a:p>
          <a:p>
            <a:r>
              <a:t>The shield, on 12 generated PDFs: all 5 hidden texts found and removed before the model, and none of the 8 clean PDFs flagged.</a:t>
            </a:r>
          </a:p>
          <a:p>
            <a:r>
              <a:t>On top of that: national ID, IBAN, card, email and phone numbers are masked before the model, and the audit log is chained with SHA-256.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the correct outcome before we wrote the code: 21 golden cases and 50 synthetic customers, each with the expected decision, rules and guide page.</a:t>
            </a:r>
          </a:p>
          <a:p>
            <a:r>
              <a:t>Last run, on the metrics page of the app: 23 expected actions, 23 caught (13 on the golden cases, 10 on the synthetic customers), 0 missed, 0 false alarms. A rule evaluation takes about 0.03 milliseconds, and more than 1,600 automated tests pass on every build.</a:t>
            </a:r>
          </a:p>
          <a:p>
            <a:r>
              <a:t>What we do not claim: 100% accuracy. The engine is deterministic, and one good run does not prove reliability in general. Time saved per case is not measured yet; that is what the pilot is for.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concrete: a shadow pilot. First, a read-only copy of the data-change feed. Then TRACE decides next to the operators on a sample of real changes, and we compare decisions and time per case. Then a go or no-go with the tax department.</a:t>
            </a:r>
          </a:p>
          <a:p>
            <a:r>
              <a:t>What we need from the bank: the sample of real changes, the tax department's review of our documented interpretations, and a model endpoint in an EU region or inside the bank.</a:t>
            </a:r>
          </a:p>
          <a:p>
            <a:r>
              <a:t>In the demo the customers and documents are synthetic and core banking is simulated; the .NET template existed before the event, everything CRS was built during the hackathon.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A33"/>
        </a:solidFill>
        <a:effectLst/>
      </p:bgPr>
    </p:bg>
    <p:spTree>
      <p:nvGrpSpPr>
        <p:cNvPr id="1" name=""/>
        <p:cNvGrpSpPr/>
        <p:nvPr/>
      </p:nvGrpSpPr>
      <p:grpSpPr/>
      <p:sp>
        <p:nvSpPr>
          <p:cNvPr id="2" name="TextBox 1"/>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RAIFFEISEN BANK ROMANIA  ·  AI FOR OPERATIONAL EFFICIENCY</a:t>
            </a:r>
          </a:p>
        </p:txBody>
      </p:sp>
      <p:sp>
        <p:nvSpPr>
          <p:cNvPr id="3" name="TextBox 2"/>
          <p:cNvSpPr txBox="1"/>
          <p:nvPr/>
        </p:nvSpPr>
        <p:spPr>
          <a:xfrm>
            <a:off x="795528" y="1417320"/>
            <a:ext cx="10545775" cy="1005840"/>
          </a:xfrm>
          <a:prstGeom prst="rect">
            <a:avLst/>
          </a:prstGeom>
          <a:noFill/>
        </p:spPr>
        <p:txBody>
          <a:bodyPr wrap="square" lIns="0" rIns="0" tIns="0" bIns="0" anchor="t">
            <a:spAutoFit/>
          </a:bodyPr>
          <a:lstStyle/>
          <a:p>
            <a:pPr algn="l">
              <a:lnSpc>
                <a:spcPct val="100000"/>
              </a:lnSpc>
              <a:spcAft>
                <a:spcPts val="0"/>
              </a:spcAft>
            </a:pPr>
            <a:r>
              <a:rPr sz="6600" b="1" spc="-100">
                <a:solidFill>
                  <a:srgbClr val="FFFFFF"/>
                </a:solidFill>
                <a:latin typeface="Inter"/>
              </a:rPr>
              <a:t>TRACE</a:t>
            </a:r>
          </a:p>
        </p:txBody>
      </p:sp>
      <p:sp>
        <p:nvSpPr>
          <p:cNvPr id="4" name="TextBox 3"/>
          <p:cNvSpPr txBox="1"/>
          <p:nvPr/>
        </p:nvSpPr>
        <p:spPr>
          <a:xfrm>
            <a:off x="822960" y="2423160"/>
            <a:ext cx="10545775" cy="365760"/>
          </a:xfrm>
          <a:prstGeom prst="rect">
            <a:avLst/>
          </a:prstGeom>
          <a:noFill/>
        </p:spPr>
        <p:txBody>
          <a:bodyPr wrap="square" lIns="0" rIns="0" tIns="0" bIns="0" anchor="t">
            <a:spAutoFit/>
          </a:bodyPr>
          <a:lstStyle/>
          <a:p>
            <a:pPr algn="l">
              <a:lnSpc>
                <a:spcPct val="100000"/>
              </a:lnSpc>
              <a:spcAft>
                <a:spcPts val="0"/>
              </a:spcAft>
            </a:pPr>
            <a:r>
              <a:rPr sz="1500" b="0">
                <a:solidFill>
                  <a:srgbClr val="9AA8BF"/>
                </a:solidFill>
                <a:latin typeface="Inter"/>
              </a:rPr>
              <a:t>Tax Residency and Anomaly Correlation Engine</a:t>
            </a:r>
          </a:p>
        </p:txBody>
      </p:sp>
      <p:cxnSp>
        <p:nvCxnSpPr>
          <p:cNvPr id="5" name="Connector 4"/>
          <p:cNvCxnSpPr/>
          <p:nvPr/>
        </p:nvCxnSpPr>
        <p:spPr>
          <a:xfrm>
            <a:off x="822960" y="3246120"/>
            <a:ext cx="1097280" cy="0"/>
          </a:xfrm>
          <a:prstGeom prst="line">
            <a:avLst/>
          </a:prstGeom>
          <a:ln w="9525">
            <a:solidFill>
              <a:srgbClr val="8DB0F5"/>
            </a:solidFill>
          </a:ln>
        </p:spPr>
      </p:cxnSp>
      <p:sp>
        <p:nvSpPr>
          <p:cNvPr id="6" name="TextBox 5"/>
          <p:cNvSpPr txBox="1"/>
          <p:nvPr/>
        </p:nvSpPr>
        <p:spPr>
          <a:xfrm>
            <a:off x="822960" y="3520440"/>
            <a:ext cx="8778240" cy="1463040"/>
          </a:xfrm>
          <a:prstGeom prst="rect">
            <a:avLst/>
          </a:prstGeom>
          <a:noFill/>
        </p:spPr>
        <p:txBody>
          <a:bodyPr wrap="square" lIns="0" rIns="0" tIns="0" bIns="0" anchor="t">
            <a:spAutoFit/>
          </a:bodyPr>
          <a:lstStyle/>
          <a:p>
            <a:pPr algn="l">
              <a:lnSpc>
                <a:spcPct val="115000"/>
              </a:lnSpc>
              <a:spcAft>
                <a:spcPts val="600"/>
              </a:spcAft>
            </a:pPr>
            <a:r>
              <a:rPr sz="2000" b="0">
                <a:solidFill>
                  <a:srgbClr val="FFFFFF"/>
                </a:solidFill>
                <a:latin typeface="Inter"/>
              </a:rPr>
              <a:t>When a customer's data changes, the bank must find out again where they pay tax.</a:t>
            </a:r>
          </a:p>
          <a:p>
            <a:pPr algn="l">
              <a:lnSpc>
                <a:spcPct val="115000"/>
              </a:lnSpc>
              <a:spcAft>
                <a:spcPts val="600"/>
              </a:spcAft>
            </a:pPr>
            <a:r>
              <a:rPr sz="2000" b="0">
                <a:solidFill>
                  <a:srgbClr val="FFFFFF"/>
                </a:solidFill>
                <a:latin typeface="Inter"/>
              </a:rPr>
              <a:t>For a new account it has 90 days. </a:t>
            </a:r>
            <a:r>
              <a:rPr sz="2000" b="1">
                <a:solidFill>
                  <a:srgbClr val="FFFFFF"/>
                </a:solidFill>
                <a:latin typeface="Inter"/>
              </a:rPr>
              <a:t>Today, it is done by hand.</a:t>
            </a:r>
          </a:p>
        </p:txBody>
      </p:sp>
      <p:sp>
        <p:nvSpPr>
          <p:cNvPr id="7" name="TextBox 6"/>
          <p:cNvSpPr txBox="1"/>
          <p:nvPr/>
        </p:nvSpPr>
        <p:spPr>
          <a:xfrm>
            <a:off x="822960" y="5943600"/>
            <a:ext cx="10545775" cy="274320"/>
          </a:xfrm>
          <a:prstGeom prst="rect">
            <a:avLst/>
          </a:prstGeom>
          <a:noFill/>
        </p:spPr>
        <p:txBody>
          <a:bodyPr wrap="square" lIns="0" rIns="0" tIns="0" bIns="0" anchor="t">
            <a:spAutoFit/>
          </a:bodyPr>
          <a:lstStyle/>
          <a:p>
            <a:pPr algn="l">
              <a:lnSpc>
                <a:spcPct val="100000"/>
              </a:lnSpc>
              <a:spcAft>
                <a:spcPts val="0"/>
              </a:spcAft>
            </a:pPr>
            <a:r>
              <a:rPr sz="1000" b="0">
                <a:solidFill>
                  <a:srgbClr val="9AA8BF"/>
                </a:solidFill>
                <a:latin typeface="Inter"/>
              </a:rPr>
              <a:t>NEXXT AI Hackathon  ·  29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02</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THE PRESSURE</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The regulator is already checking the data.</a:t>
            </a:r>
          </a:p>
        </p:txBody>
      </p:sp>
      <p:sp>
        <p:nvSpPr>
          <p:cNvPr id="5" name="TextBox 4"/>
          <p:cNvSpPr txBox="1"/>
          <p:nvPr/>
        </p:nvSpPr>
        <p:spPr>
          <a:xfrm>
            <a:off x="822960" y="1463040"/>
            <a:ext cx="6400800" cy="365760"/>
          </a:xfrm>
          <a:prstGeom prst="rect">
            <a:avLst/>
          </a:prstGeom>
          <a:noFill/>
        </p:spPr>
        <p:txBody>
          <a:bodyPr wrap="square" lIns="0" rIns="0" tIns="0" bIns="0" anchor="t">
            <a:spAutoFit/>
          </a:bodyPr>
          <a:lstStyle/>
          <a:p>
            <a:pPr algn="l">
              <a:lnSpc>
                <a:spcPct val="100000"/>
              </a:lnSpc>
              <a:spcAft>
                <a:spcPts val="0"/>
              </a:spcAft>
            </a:pPr>
            <a:r>
              <a:rPr sz="1300" b="0">
                <a:solidFill>
                  <a:srgbClr val="5E6B7E"/>
                </a:solidFill>
                <a:latin typeface="Inter"/>
              </a:rPr>
              <a:t>Records reported by financial institutions, checked by ANAF in H1 2025</a:t>
            </a:r>
          </a:p>
        </p:txBody>
      </p:sp>
      <p:graphicFrame>
        <p:nvGraphicFramePr>
          <p:cNvPr id="6" name="Chart 5"/>
          <p:cNvGraphicFramePr>
            <a:graphicFrameLocks noGrp="1"/>
          </p:cNvGraphicFramePr>
          <p:nvPr/>
        </p:nvGraphicFramePr>
        <p:xfrm>
          <a:off x="731520" y="1874519"/>
          <a:ext cx="6035040" cy="4114800"/>
        </p:xfrm>
        <a:graphic>
          <a:graphicData uri="http://schemas.openxmlformats.org/drawingml/2006/chart">
            <c:chart xmlns:c="http://schemas.openxmlformats.org/drawingml/2006/chart" r:id="rId3"/>
          </a:graphicData>
        </a:graphic>
      </p:graphicFrame>
      <p:sp>
        <p:nvSpPr>
          <p:cNvPr id="7" name="TextBox 6"/>
          <p:cNvSpPr txBox="1"/>
          <p:nvPr/>
        </p:nvSpPr>
        <p:spPr>
          <a:xfrm>
            <a:off x="7406640" y="196596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2557D6"/>
                </a:solidFill>
                <a:latin typeface="Inter"/>
              </a:rPr>
              <a:t>28%</a:t>
            </a:r>
          </a:p>
        </p:txBody>
      </p:sp>
      <p:sp>
        <p:nvSpPr>
          <p:cNvPr id="8" name="TextBox 7"/>
          <p:cNvSpPr txBox="1"/>
          <p:nvPr/>
        </p:nvSpPr>
        <p:spPr>
          <a:xfrm>
            <a:off x="7406640" y="2468880"/>
            <a:ext cx="3962095" cy="548640"/>
          </a:xfrm>
          <a:prstGeom prst="rect">
            <a:avLst/>
          </a:prstGeom>
          <a:noFill/>
        </p:spPr>
        <p:txBody>
          <a:bodyPr wrap="square" lIns="0" rIns="0" tIns="0" bIns="0" anchor="t">
            <a:spAutoFit/>
          </a:bodyPr>
          <a:lstStyle/>
          <a:p>
            <a:pPr algn="l">
              <a:lnSpc>
                <a:spcPct val="110000"/>
              </a:lnSpc>
              <a:spcAft>
                <a:spcPts val="0"/>
              </a:spcAft>
            </a:pPr>
            <a:r>
              <a:rPr sz="1300" b="0">
                <a:solidFill>
                  <a:srgbClr val="5E6B7E"/>
                </a:solidFill>
                <a:latin typeface="Inter"/>
              </a:rPr>
              <a:t>of checked records needed a correction, sector-wide</a:t>
            </a:r>
          </a:p>
        </p:txBody>
      </p:sp>
      <p:cxnSp>
        <p:nvCxnSpPr>
          <p:cNvPr id="9" name="Connector 8"/>
          <p:cNvCxnSpPr/>
          <p:nvPr/>
        </p:nvCxnSpPr>
        <p:spPr>
          <a:xfrm>
            <a:off x="7406640" y="3136391"/>
            <a:ext cx="3962095" cy="0"/>
          </a:xfrm>
          <a:prstGeom prst="line">
            <a:avLst/>
          </a:prstGeom>
          <a:ln w="9525">
            <a:solidFill>
              <a:srgbClr val="D9DEE6"/>
            </a:solidFill>
          </a:ln>
        </p:spPr>
      </p:cxnSp>
      <p:sp>
        <p:nvSpPr>
          <p:cNvPr id="10" name="TextBox 9"/>
          <p:cNvSpPr txBox="1"/>
          <p:nvPr/>
        </p:nvSpPr>
        <p:spPr>
          <a:xfrm>
            <a:off x="7406640" y="333756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0A1A33"/>
                </a:solidFill>
                <a:latin typeface="Inter"/>
              </a:rPr>
              <a:t>2,000-10,000 lei</a:t>
            </a:r>
          </a:p>
        </p:txBody>
      </p:sp>
      <p:sp>
        <p:nvSpPr>
          <p:cNvPr id="11" name="TextBox 10"/>
          <p:cNvSpPr txBox="1"/>
          <p:nvPr/>
        </p:nvSpPr>
        <p:spPr>
          <a:xfrm>
            <a:off x="7406640" y="3840480"/>
            <a:ext cx="3962095" cy="548640"/>
          </a:xfrm>
          <a:prstGeom prst="rect">
            <a:avLst/>
          </a:prstGeom>
          <a:noFill/>
        </p:spPr>
        <p:txBody>
          <a:bodyPr wrap="square" lIns="0" rIns="0" tIns="0" bIns="0" anchor="t">
            <a:spAutoFit/>
          </a:bodyPr>
          <a:lstStyle/>
          <a:p>
            <a:pPr algn="l">
              <a:lnSpc>
                <a:spcPct val="110000"/>
              </a:lnSpc>
              <a:spcAft>
                <a:spcPts val="0"/>
              </a:spcAft>
            </a:pPr>
            <a:r>
              <a:rPr sz="1300" b="0">
                <a:solidFill>
                  <a:srgbClr val="5E6B7E"/>
                </a:solidFill>
                <a:latin typeface="Inter"/>
              </a:rPr>
              <a:t>fine for each account reported wrongly</a:t>
            </a:r>
          </a:p>
        </p:txBody>
      </p:sp>
      <p:cxnSp>
        <p:nvCxnSpPr>
          <p:cNvPr id="12" name="Connector 11"/>
          <p:cNvCxnSpPr/>
          <p:nvPr/>
        </p:nvCxnSpPr>
        <p:spPr>
          <a:xfrm>
            <a:off x="7406640" y="4507992"/>
            <a:ext cx="3962095" cy="0"/>
          </a:xfrm>
          <a:prstGeom prst="line">
            <a:avLst/>
          </a:prstGeom>
          <a:ln w="9525">
            <a:solidFill>
              <a:srgbClr val="D9DEE6"/>
            </a:solidFill>
          </a:ln>
        </p:spPr>
      </p:cxnSp>
      <p:sp>
        <p:nvSpPr>
          <p:cNvPr id="13" name="TextBox 12"/>
          <p:cNvSpPr txBox="1"/>
          <p:nvPr/>
        </p:nvSpPr>
        <p:spPr>
          <a:xfrm>
            <a:off x="7406640" y="470916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0A1A33"/>
                </a:solidFill>
                <a:latin typeface="Inter"/>
              </a:rPr>
              <a:t>2.4 million</a:t>
            </a:r>
          </a:p>
        </p:txBody>
      </p:sp>
      <p:sp>
        <p:nvSpPr>
          <p:cNvPr id="14" name="TextBox 13"/>
          <p:cNvSpPr txBox="1"/>
          <p:nvPr/>
        </p:nvSpPr>
        <p:spPr>
          <a:xfrm>
            <a:off x="7406640" y="5212080"/>
            <a:ext cx="3962095" cy="548640"/>
          </a:xfrm>
          <a:prstGeom prst="rect">
            <a:avLst/>
          </a:prstGeom>
          <a:noFill/>
        </p:spPr>
        <p:txBody>
          <a:bodyPr wrap="square" lIns="0" rIns="0" tIns="0" bIns="0" anchor="t">
            <a:spAutoFit/>
          </a:bodyPr>
          <a:lstStyle/>
          <a:p>
            <a:pPr algn="l">
              <a:lnSpc>
                <a:spcPct val="110000"/>
              </a:lnSpc>
              <a:spcAft>
                <a:spcPts val="0"/>
              </a:spcAft>
            </a:pPr>
            <a:r>
              <a:rPr sz="1300" b="0">
                <a:solidFill>
                  <a:srgbClr val="5E6B7E"/>
                </a:solidFill>
                <a:latin typeface="Inter"/>
              </a:rPr>
              <a:t>Raiffeisen customers whose tax residency must stay current</a:t>
            </a:r>
          </a:p>
        </p:txBody>
      </p:sp>
      <p:sp>
        <p:nvSpPr>
          <p:cNvPr id="15" name="TextBox 14"/>
          <p:cNvSpPr txBox="1"/>
          <p:nvPr/>
        </p:nvSpPr>
        <p:spPr>
          <a:xfrm>
            <a:off x="822960" y="6355080"/>
            <a:ext cx="9692640" cy="274320"/>
          </a:xfrm>
          <a:prstGeom prst="rect">
            <a:avLst/>
          </a:prstGeom>
          <a:noFill/>
        </p:spPr>
        <p:txBody>
          <a:bodyPr wrap="square" lIns="0" rIns="0" tIns="0" bIns="0" anchor="t">
            <a:spAutoFit/>
          </a:bodyPr>
          <a:lstStyle/>
          <a:p>
            <a:pPr algn="l">
              <a:lnSpc>
                <a:spcPct val="100000"/>
              </a:lnSpc>
              <a:spcAft>
                <a:spcPts val="0"/>
              </a:spcAft>
            </a:pPr>
            <a:r>
              <a:rPr sz="800" b="0">
                <a:solidFill>
                  <a:srgbClr val="5E6B7E"/>
                </a:solidFill>
                <a:latin typeface="Inter"/>
              </a:rPr>
              <a:t>Sources: ANAF activity report H1 2025, p. 36-37 (sector-wide)  ·  Fiscal Procedure Code, art. 336(2)(k^1), (k^2)  ·  Raiffeisen Bank Romania press release, 28.10.2026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03</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THE EXPOSURE</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The fine is per account, so the risk grows with volume.</a:t>
            </a:r>
          </a:p>
        </p:txBody>
      </p:sp>
      <p:sp>
        <p:nvSpPr>
          <p:cNvPr id="5" name="TextBox 4"/>
          <p:cNvSpPr txBox="1"/>
          <p:nvPr/>
        </p:nvSpPr>
        <p:spPr>
          <a:xfrm>
            <a:off x="822960" y="1463040"/>
            <a:ext cx="10545775" cy="365760"/>
          </a:xfrm>
          <a:prstGeom prst="rect">
            <a:avLst/>
          </a:prstGeom>
          <a:noFill/>
        </p:spPr>
        <p:txBody>
          <a:bodyPr wrap="square" lIns="0" rIns="0" tIns="0" bIns="0" anchor="t">
            <a:spAutoFit/>
          </a:bodyPr>
          <a:lstStyle/>
          <a:p>
            <a:pPr algn="l">
              <a:lnSpc>
                <a:spcPct val="100000"/>
              </a:lnSpc>
              <a:spcAft>
                <a:spcPts val="0"/>
              </a:spcAft>
            </a:pPr>
            <a:r>
              <a:rPr sz="1300" b="0">
                <a:solidFill>
                  <a:srgbClr val="5E6B7E"/>
                </a:solidFill>
                <a:latin typeface="Inter"/>
              </a:rPr>
              <a:t>Fine range set by law, by number of accounts reported wrongly (thousand lei)</a:t>
            </a:r>
          </a:p>
        </p:txBody>
      </p:sp>
      <p:graphicFrame>
        <p:nvGraphicFramePr>
          <p:cNvPr id="6" name="Chart 5"/>
          <p:cNvGraphicFramePr>
            <a:graphicFrameLocks noGrp="1"/>
          </p:cNvGraphicFramePr>
          <p:nvPr/>
        </p:nvGraphicFramePr>
        <p:xfrm>
          <a:off x="731520" y="1874519"/>
          <a:ext cx="10728655" cy="4206240"/>
        </p:xfrm>
        <a:graphic>
          <a:graphicData uri="http://schemas.openxmlformats.org/drawingml/2006/chart">
            <c:chart xmlns:c="http://schemas.openxmlformats.org/drawingml/2006/chart" r:id="rId3"/>
          </a:graphicData>
        </a:graphic>
      </p:graphicFrame>
      <p:sp>
        <p:nvSpPr>
          <p:cNvPr id="7" name="TextBox 6"/>
          <p:cNvSpPr txBox="1"/>
          <p:nvPr/>
        </p:nvSpPr>
        <p:spPr>
          <a:xfrm>
            <a:off x="822960" y="6355080"/>
            <a:ext cx="9692640" cy="274320"/>
          </a:xfrm>
          <a:prstGeom prst="rect">
            <a:avLst/>
          </a:prstGeom>
          <a:noFill/>
        </p:spPr>
        <p:txBody>
          <a:bodyPr wrap="square" lIns="0" rIns="0" tIns="0" bIns="0" anchor="t">
            <a:spAutoFit/>
          </a:bodyPr>
          <a:lstStyle/>
          <a:p>
            <a:pPr algn="l">
              <a:lnSpc>
                <a:spcPct val="100000"/>
              </a:lnSpc>
              <a:spcAft>
                <a:spcPts val="0"/>
              </a:spcAft>
            </a:pPr>
            <a:r>
              <a:rPr sz="800" b="0">
                <a:solidFill>
                  <a:srgbClr val="5E6B7E"/>
                </a:solidFill>
                <a:latin typeface="Inter"/>
              </a:rPr>
              <a:t>Illustration: fine per account (Fiscal Procedure Code, art. 336(2)(k^1)) multiplied by the number of accounts. Without due diligence procedures: 5,000-10,000 lei per account.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04</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THE PROBLEM, IN ONE CUSTOMER</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One move. Two indicia. Ninety days.</a:t>
            </a:r>
          </a:p>
        </p:txBody>
      </p:sp>
      <p:sp>
        <p:nvSpPr>
          <p:cNvPr id="5" name="TextBox 4"/>
          <p:cNvSpPr txBox="1"/>
          <p:nvPr/>
        </p:nvSpPr>
        <p:spPr>
          <a:xfrm>
            <a:off x="822960" y="1463040"/>
            <a:ext cx="10545775" cy="365760"/>
          </a:xfrm>
          <a:prstGeom prst="rect">
            <a:avLst/>
          </a:prstGeom>
          <a:noFill/>
        </p:spPr>
        <p:txBody>
          <a:bodyPr wrap="square" lIns="0" rIns="0" tIns="0" bIns="0" anchor="t">
            <a:spAutoFit/>
          </a:bodyPr>
          <a:lstStyle/>
          <a:p>
            <a:pPr algn="l">
              <a:lnSpc>
                <a:spcPct val="100000"/>
              </a:lnSpc>
              <a:spcAft>
                <a:spcPts val="0"/>
              </a:spcAft>
            </a:pPr>
            <a:r>
              <a:rPr sz="1500" b="0">
                <a:solidFill>
                  <a:srgbClr val="5E6B7E"/>
                </a:solidFill>
                <a:latin typeface="Inter"/>
              </a:rPr>
              <a:t>Maria Popescu moves to Munich and switches to a German phone.</a:t>
            </a:r>
          </a:p>
        </p:txBody>
      </p:sp>
      <p:sp>
        <p:nvSpPr>
          <p:cNvPr id="6" name="Rectangle 5"/>
          <p:cNvSpPr/>
          <p:nvPr/>
        </p:nvSpPr>
        <p:spPr>
          <a:xfrm>
            <a:off x="822960" y="3909059"/>
            <a:ext cx="10545775" cy="45720"/>
          </a:xfrm>
          <a:prstGeom prst="rect">
            <a:avLst/>
          </a:prstGeom>
          <a:solidFill>
            <a:srgbClr val="D9DEE6"/>
          </a:solidFill>
          <a:ln>
            <a:noFill/>
          </a:ln>
          <a:effectLst/>
        </p:spPr>
        <p:txBody>
          <a:bodyPr rtlCol="0" anchor="ctr"/>
          <a:lstStyle/>
          <a:p>
            <a:pPr algn="ctr"/>
          </a:p>
        </p:txBody>
      </p:sp>
      <p:sp>
        <p:nvSpPr>
          <p:cNvPr id="7" name="Rectangle 6"/>
          <p:cNvSpPr/>
          <p:nvPr/>
        </p:nvSpPr>
        <p:spPr>
          <a:xfrm>
            <a:off x="822960" y="3909059"/>
            <a:ext cx="9959898" cy="45720"/>
          </a:xfrm>
          <a:prstGeom prst="rect">
            <a:avLst/>
          </a:prstGeom>
          <a:solidFill>
            <a:srgbClr val="0A1A33"/>
          </a:solidFill>
          <a:ln>
            <a:noFill/>
          </a:ln>
          <a:effectLst/>
        </p:spPr>
        <p:txBody>
          <a:bodyPr rtlCol="0" anchor="ctr"/>
          <a:lstStyle/>
          <a:p>
            <a:pPr algn="ctr"/>
          </a:p>
        </p:txBody>
      </p:sp>
      <p:sp>
        <p:nvSpPr>
          <p:cNvPr id="8" name="Oval 7"/>
          <p:cNvSpPr/>
          <p:nvPr/>
        </p:nvSpPr>
        <p:spPr>
          <a:xfrm>
            <a:off x="722376" y="3831335"/>
            <a:ext cx="201168" cy="201168"/>
          </a:xfrm>
          <a:prstGeom prst="ellipse">
            <a:avLst/>
          </a:prstGeom>
          <a:solidFill>
            <a:srgbClr val="0A1A33"/>
          </a:solidFill>
          <a:ln>
            <a:noFill/>
          </a:ln>
          <a:effectLst/>
        </p:spPr>
        <p:txBody>
          <a:bodyPr rtlCol="0" anchor="ctr"/>
          <a:lstStyle/>
          <a:p>
            <a:pPr algn="ctr"/>
          </a:p>
        </p:txBody>
      </p:sp>
      <p:sp>
        <p:nvSpPr>
          <p:cNvPr id="9" name="Oval 8"/>
          <p:cNvSpPr/>
          <p:nvPr/>
        </p:nvSpPr>
        <p:spPr>
          <a:xfrm>
            <a:off x="10682274" y="3831335"/>
            <a:ext cx="201168" cy="201168"/>
          </a:xfrm>
          <a:prstGeom prst="ellipse">
            <a:avLst/>
          </a:prstGeom>
          <a:solidFill>
            <a:srgbClr val="0A1A33"/>
          </a:solidFill>
          <a:ln>
            <a:noFill/>
          </a:ln>
          <a:effectLst/>
        </p:spPr>
        <p:txBody>
          <a:bodyPr rtlCol="0" anchor="ctr"/>
          <a:lstStyle/>
          <a:p>
            <a:pPr algn="ctr"/>
          </a:p>
        </p:txBody>
      </p:sp>
      <p:sp>
        <p:nvSpPr>
          <p:cNvPr id="10" name="Oval 9"/>
          <p:cNvSpPr/>
          <p:nvPr/>
        </p:nvSpPr>
        <p:spPr>
          <a:xfrm>
            <a:off x="11268151" y="3831335"/>
            <a:ext cx="201168" cy="201168"/>
          </a:xfrm>
          <a:prstGeom prst="ellipse">
            <a:avLst/>
          </a:prstGeom>
          <a:solidFill>
            <a:srgbClr val="FFFFFF"/>
          </a:solidFill>
          <a:ln w="15875">
            <a:solidFill>
              <a:srgbClr val="0A1A33"/>
            </a:solidFill>
          </a:ln>
          <a:effectLst/>
        </p:spPr>
        <p:txBody>
          <a:bodyPr rtlCol="0" anchor="ctr"/>
          <a:lstStyle/>
          <a:p>
            <a:pPr algn="ctr"/>
          </a:p>
        </p:txBody>
      </p:sp>
      <p:sp>
        <p:nvSpPr>
          <p:cNvPr id="11" name="TextBox 10"/>
          <p:cNvSpPr txBox="1"/>
          <p:nvPr/>
        </p:nvSpPr>
        <p:spPr>
          <a:xfrm>
            <a:off x="822960" y="4206240"/>
            <a:ext cx="3657600" cy="822960"/>
          </a:xfrm>
          <a:prstGeom prst="rect">
            <a:avLst/>
          </a:prstGeom>
          <a:noFill/>
        </p:spPr>
        <p:txBody>
          <a:bodyPr wrap="square" lIns="0" rIns="0" tIns="0" bIns="0" anchor="t">
            <a:spAutoFit/>
          </a:bodyPr>
          <a:lstStyle/>
          <a:p>
            <a:pPr algn="l">
              <a:lnSpc>
                <a:spcPct val="100000"/>
              </a:lnSpc>
              <a:spcAft>
                <a:spcPts val="0"/>
              </a:spcAft>
            </a:pPr>
            <a:r>
              <a:rPr sz="2200" b="1">
                <a:solidFill>
                  <a:srgbClr val="0A1A33"/>
                </a:solidFill>
                <a:latin typeface="Inter"/>
              </a:rPr>
              <a:t>Day 0</a:t>
            </a:r>
          </a:p>
          <a:p>
            <a:pPr algn="l">
              <a:lnSpc>
                <a:spcPct val="100000"/>
              </a:lnSpc>
              <a:spcAft>
                <a:spcPts val="0"/>
              </a:spcAft>
            </a:pPr>
            <a:r>
              <a:rPr sz="1300" b="0">
                <a:solidFill>
                  <a:srgbClr val="5E6B7E"/>
                </a:solidFill>
                <a:latin typeface="Inter"/>
              </a:rPr>
              <a:t>Change received, case opened</a:t>
            </a:r>
          </a:p>
        </p:txBody>
      </p:sp>
      <p:sp>
        <p:nvSpPr>
          <p:cNvPr id="12" name="TextBox 11"/>
          <p:cNvSpPr txBox="1"/>
          <p:nvPr/>
        </p:nvSpPr>
        <p:spPr>
          <a:xfrm>
            <a:off x="7711135" y="4206240"/>
            <a:ext cx="3657600" cy="822960"/>
          </a:xfrm>
          <a:prstGeom prst="rect">
            <a:avLst/>
          </a:prstGeom>
          <a:noFill/>
        </p:spPr>
        <p:txBody>
          <a:bodyPr wrap="square" lIns="0" rIns="0" tIns="0" bIns="0" anchor="t">
            <a:spAutoFit/>
          </a:bodyPr>
          <a:lstStyle/>
          <a:p>
            <a:pPr algn="r">
              <a:lnSpc>
                <a:spcPct val="100000"/>
              </a:lnSpc>
              <a:spcAft>
                <a:spcPts val="0"/>
              </a:spcAft>
            </a:pPr>
            <a:r>
              <a:rPr sz="2200" b="1">
                <a:solidFill>
                  <a:srgbClr val="0A1A33"/>
                </a:solidFill>
                <a:latin typeface="Inter"/>
              </a:rPr>
              <a:t>Day 90</a:t>
            </a:r>
          </a:p>
          <a:p>
            <a:pPr algn="r">
              <a:lnSpc>
                <a:spcPct val="100000"/>
              </a:lnSpc>
              <a:spcAft>
                <a:spcPts val="0"/>
              </a:spcAft>
            </a:pPr>
            <a:r>
              <a:rPr sz="1300" b="0">
                <a:solidFill>
                  <a:srgbClr val="5E6B7E"/>
                </a:solidFill>
                <a:latin typeface="Inter"/>
              </a:rPr>
              <a:t>Legal deadline</a:t>
            </a:r>
          </a:p>
        </p:txBody>
      </p:sp>
      <p:sp>
        <p:nvSpPr>
          <p:cNvPr id="13" name="TextBox 12"/>
          <p:cNvSpPr txBox="1"/>
          <p:nvPr/>
        </p:nvSpPr>
        <p:spPr>
          <a:xfrm>
            <a:off x="7125258" y="2880360"/>
            <a:ext cx="3657600" cy="822960"/>
          </a:xfrm>
          <a:prstGeom prst="rect">
            <a:avLst/>
          </a:prstGeom>
          <a:noFill/>
        </p:spPr>
        <p:txBody>
          <a:bodyPr wrap="square" lIns="0" rIns="0" tIns="0" bIns="0" anchor="t">
            <a:spAutoFit/>
          </a:bodyPr>
          <a:lstStyle/>
          <a:p>
            <a:pPr algn="r">
              <a:lnSpc>
                <a:spcPct val="100000"/>
              </a:lnSpc>
              <a:spcAft>
                <a:spcPts val="0"/>
              </a:spcAft>
            </a:pPr>
            <a:r>
              <a:rPr sz="2200" b="1">
                <a:solidFill>
                  <a:srgbClr val="0A1A33"/>
                </a:solidFill>
                <a:latin typeface="Inter"/>
              </a:rPr>
              <a:t>Day 85</a:t>
            </a:r>
          </a:p>
          <a:p>
            <a:pPr algn="r">
              <a:lnSpc>
                <a:spcPct val="100000"/>
              </a:lnSpc>
              <a:spcAft>
                <a:spcPts val="0"/>
              </a:spcAft>
            </a:pPr>
            <a:r>
              <a:rPr sz="1300" b="0">
                <a:solidFill>
                  <a:srgbClr val="5E6B7E"/>
                </a:solidFill>
                <a:latin typeface="Inter"/>
              </a:rPr>
              <a:t>Reminder and escalation</a:t>
            </a:r>
          </a:p>
        </p:txBody>
      </p:sp>
      <p:sp>
        <p:nvSpPr>
          <p:cNvPr id="14" name="TextBox 13"/>
          <p:cNvSpPr txBox="1"/>
          <p:nvPr/>
        </p:nvSpPr>
        <p:spPr>
          <a:xfrm>
            <a:off x="822960" y="2103120"/>
            <a:ext cx="3566160" cy="640080"/>
          </a:xfrm>
          <a:prstGeom prst="rect">
            <a:avLst/>
          </a:prstGeom>
          <a:noFill/>
        </p:spPr>
        <p:txBody>
          <a:bodyPr wrap="square" lIns="0" rIns="0" tIns="0" bIns="0" anchor="t">
            <a:spAutoFit/>
          </a:bodyPr>
          <a:lstStyle/>
          <a:p>
            <a:pPr algn="l">
              <a:lnSpc>
                <a:spcPct val="115000"/>
              </a:lnSpc>
              <a:spcAft>
                <a:spcPts val="0"/>
              </a:spcAft>
            </a:pPr>
            <a:r>
              <a:rPr sz="1400" b="1">
                <a:solidFill>
                  <a:srgbClr val="0A1A33"/>
                </a:solidFill>
                <a:latin typeface="Inter"/>
              </a:rPr>
              <a:t>Address in Germany</a:t>
            </a:r>
          </a:p>
          <a:p>
            <a:pPr algn="l">
              <a:lnSpc>
                <a:spcPct val="115000"/>
              </a:lnSpc>
              <a:spcAft>
                <a:spcPts val="0"/>
              </a:spcAft>
            </a:pPr>
            <a:r>
              <a:rPr sz="1100" b="0">
                <a:solidFill>
                  <a:srgbClr val="5E6B7E"/>
                </a:solidFill>
                <a:latin typeface="Inter"/>
              </a:rPr>
              <a:t>CRS-IND-ADDR  ·  guide p. 29 b</a:t>
            </a:r>
          </a:p>
        </p:txBody>
      </p:sp>
      <p:sp>
        <p:nvSpPr>
          <p:cNvPr id="15" name="TextBox 14"/>
          <p:cNvSpPr txBox="1"/>
          <p:nvPr/>
        </p:nvSpPr>
        <p:spPr>
          <a:xfrm>
            <a:off x="4663440" y="2103120"/>
            <a:ext cx="3566160" cy="640080"/>
          </a:xfrm>
          <a:prstGeom prst="rect">
            <a:avLst/>
          </a:prstGeom>
          <a:noFill/>
        </p:spPr>
        <p:txBody>
          <a:bodyPr wrap="square" lIns="0" rIns="0" tIns="0" bIns="0" anchor="t">
            <a:spAutoFit/>
          </a:bodyPr>
          <a:lstStyle/>
          <a:p>
            <a:pPr algn="l">
              <a:lnSpc>
                <a:spcPct val="115000"/>
              </a:lnSpc>
              <a:spcAft>
                <a:spcPts val="0"/>
              </a:spcAft>
            </a:pPr>
            <a:r>
              <a:rPr sz="1400" b="1">
                <a:solidFill>
                  <a:srgbClr val="0A1A33"/>
                </a:solidFill>
                <a:latin typeface="Inter"/>
              </a:rPr>
              <a:t>German phone, no Romanian phone</a:t>
            </a:r>
          </a:p>
          <a:p>
            <a:pPr algn="l">
              <a:lnSpc>
                <a:spcPct val="115000"/>
              </a:lnSpc>
              <a:spcAft>
                <a:spcPts val="0"/>
              </a:spcAft>
            </a:pPr>
            <a:r>
              <a:rPr sz="1100" b="0">
                <a:solidFill>
                  <a:srgbClr val="5E6B7E"/>
                </a:solidFill>
                <a:latin typeface="Inter"/>
              </a:rPr>
              <a:t>CRS-IND-PHONE  ·  guide p. 29 c</a:t>
            </a:r>
          </a:p>
        </p:txBody>
      </p:sp>
      <p:cxnSp>
        <p:nvCxnSpPr>
          <p:cNvPr id="16" name="Connector 15"/>
          <p:cNvCxnSpPr/>
          <p:nvPr/>
        </p:nvCxnSpPr>
        <p:spPr>
          <a:xfrm>
            <a:off x="822960" y="5349240"/>
            <a:ext cx="10545775" cy="0"/>
          </a:xfrm>
          <a:prstGeom prst="line">
            <a:avLst/>
          </a:prstGeom>
          <a:ln w="9525">
            <a:solidFill>
              <a:srgbClr val="D9DEE6"/>
            </a:solidFill>
          </a:ln>
        </p:spPr>
      </p:cxnSp>
      <p:sp>
        <p:nvSpPr>
          <p:cNvPr id="17" name="TextBox 16"/>
          <p:cNvSpPr txBox="1"/>
          <p:nvPr/>
        </p:nvSpPr>
        <p:spPr>
          <a:xfrm>
            <a:off x="822960" y="5532120"/>
            <a:ext cx="10545775" cy="365760"/>
          </a:xfrm>
          <a:prstGeom prst="rect">
            <a:avLst/>
          </a:prstGeom>
          <a:noFill/>
        </p:spPr>
        <p:txBody>
          <a:bodyPr wrap="square" lIns="0" rIns="0" tIns="0" bIns="0" anchor="t">
            <a:spAutoFit/>
          </a:bodyPr>
          <a:lstStyle/>
          <a:p>
            <a:pPr algn="l">
              <a:lnSpc>
                <a:spcPct val="100000"/>
              </a:lnSpc>
              <a:spcAft>
                <a:spcPts val="0"/>
              </a:spcAft>
            </a:pPr>
            <a:r>
              <a:rPr sz="1500" b="1">
                <a:solidFill>
                  <a:srgbClr val="0A1A33"/>
                </a:solidFill>
                <a:latin typeface="Inter"/>
              </a:rPr>
              <a:t>No valid answer by day 90: </a:t>
            </a:r>
            <a:r>
              <a:rPr sz="1500" b="0">
                <a:solidFill>
                  <a:srgbClr val="0A1A33"/>
                </a:solidFill>
                <a:latin typeface="Inter"/>
              </a:rPr>
              <a:t>she is treated as tax resident in Romania and in Germany.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05</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WHY IT IS HARD</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Similar changes. Opposite answers.</a:t>
            </a:r>
          </a:p>
        </p:txBody>
      </p:sp>
      <p:cxnSp>
        <p:nvCxnSpPr>
          <p:cNvPr id="5" name="Connector 4"/>
          <p:cNvCxnSpPr/>
          <p:nvPr/>
        </p:nvCxnSpPr>
        <p:spPr>
          <a:xfrm>
            <a:off x="822960" y="1828800"/>
            <a:ext cx="10545775" cy="0"/>
          </a:xfrm>
          <a:prstGeom prst="line">
            <a:avLst/>
          </a:prstGeom>
          <a:ln w="9525">
            <a:solidFill>
              <a:srgbClr val="D9DEE6"/>
            </a:solidFill>
          </a:ln>
        </p:spPr>
      </p:cxnSp>
      <p:sp>
        <p:nvSpPr>
          <p:cNvPr id="6" name="TextBox 5"/>
          <p:cNvSpPr txBox="1"/>
          <p:nvPr/>
        </p:nvSpPr>
        <p:spPr>
          <a:xfrm>
            <a:off x="822960" y="2075688"/>
            <a:ext cx="6583680" cy="365760"/>
          </a:xfrm>
          <a:prstGeom prst="rect">
            <a:avLst/>
          </a:prstGeom>
          <a:noFill/>
        </p:spPr>
        <p:txBody>
          <a:bodyPr wrap="square" lIns="0" rIns="0" tIns="0" bIns="0" anchor="t">
            <a:spAutoFit/>
          </a:bodyPr>
          <a:lstStyle/>
          <a:p>
            <a:pPr algn="l">
              <a:lnSpc>
                <a:spcPct val="100000"/>
              </a:lnSpc>
              <a:spcAft>
                <a:spcPts val="0"/>
              </a:spcAft>
            </a:pPr>
            <a:r>
              <a:rPr sz="1600" b="0">
                <a:solidFill>
                  <a:srgbClr val="0A1A33"/>
                </a:solidFill>
                <a:latin typeface="Inter"/>
              </a:rPr>
              <a:t>A German phone, next to a Romanian one</a:t>
            </a:r>
          </a:p>
        </p:txBody>
      </p:sp>
      <p:sp>
        <p:nvSpPr>
          <p:cNvPr id="7" name="TextBox 6"/>
          <p:cNvSpPr txBox="1"/>
          <p:nvPr/>
        </p:nvSpPr>
        <p:spPr>
          <a:xfrm>
            <a:off x="7680960" y="2075688"/>
            <a:ext cx="2377440" cy="365760"/>
          </a:xfrm>
          <a:prstGeom prst="rect">
            <a:avLst/>
          </a:prstGeom>
          <a:noFill/>
        </p:spPr>
        <p:txBody>
          <a:bodyPr wrap="square" lIns="0" rIns="0" tIns="0" bIns="0" anchor="t">
            <a:spAutoFit/>
          </a:bodyPr>
          <a:lstStyle/>
          <a:p>
            <a:pPr algn="l">
              <a:lnSpc>
                <a:spcPct val="100000"/>
              </a:lnSpc>
              <a:spcAft>
                <a:spcPts val="0"/>
              </a:spcAft>
            </a:pPr>
            <a:r>
              <a:rPr sz="1600" b="1">
                <a:solidFill>
                  <a:srgbClr val="0A1A33"/>
                </a:solidFill>
                <a:latin typeface="Inter"/>
              </a:rPr>
              <a:t>No case</a:t>
            </a:r>
          </a:p>
        </p:txBody>
      </p:sp>
      <p:sp>
        <p:nvSpPr>
          <p:cNvPr id="8" name="TextBox 7"/>
          <p:cNvSpPr txBox="1"/>
          <p:nvPr/>
        </p:nvSpPr>
        <p:spPr>
          <a:xfrm>
            <a:off x="10058400" y="2103120"/>
            <a:ext cx="1307592" cy="365760"/>
          </a:xfrm>
          <a:prstGeom prst="rect">
            <a:avLst/>
          </a:prstGeom>
          <a:noFill/>
        </p:spPr>
        <p:txBody>
          <a:bodyPr wrap="square" lIns="0" rIns="0" tIns="0" bIns="0" anchor="t">
            <a:spAutoFit/>
          </a:bodyPr>
          <a:lstStyle/>
          <a:p>
            <a:pPr algn="r">
              <a:lnSpc>
                <a:spcPct val="100000"/>
              </a:lnSpc>
              <a:spcAft>
                <a:spcPts val="0"/>
              </a:spcAft>
            </a:pPr>
            <a:r>
              <a:rPr sz="1100" b="0">
                <a:solidFill>
                  <a:srgbClr val="5E6B7E"/>
                </a:solidFill>
                <a:latin typeface="Inter"/>
              </a:rPr>
              <a:t>guide p. 29 c</a:t>
            </a:r>
          </a:p>
        </p:txBody>
      </p:sp>
      <p:cxnSp>
        <p:nvCxnSpPr>
          <p:cNvPr id="9" name="Connector 8"/>
          <p:cNvCxnSpPr/>
          <p:nvPr/>
        </p:nvCxnSpPr>
        <p:spPr>
          <a:xfrm>
            <a:off x="822960" y="2606040"/>
            <a:ext cx="10545775" cy="0"/>
          </a:xfrm>
          <a:prstGeom prst="line">
            <a:avLst/>
          </a:prstGeom>
          <a:ln w="9525">
            <a:solidFill>
              <a:srgbClr val="D9DEE6"/>
            </a:solidFill>
          </a:ln>
        </p:spPr>
      </p:cxnSp>
      <p:sp>
        <p:nvSpPr>
          <p:cNvPr id="10" name="TextBox 9"/>
          <p:cNvSpPr txBox="1"/>
          <p:nvPr/>
        </p:nvSpPr>
        <p:spPr>
          <a:xfrm>
            <a:off x="822960" y="2852928"/>
            <a:ext cx="6583680" cy="365760"/>
          </a:xfrm>
          <a:prstGeom prst="rect">
            <a:avLst/>
          </a:prstGeom>
          <a:noFill/>
        </p:spPr>
        <p:txBody>
          <a:bodyPr wrap="square" lIns="0" rIns="0" tIns="0" bIns="0" anchor="t">
            <a:spAutoFit/>
          </a:bodyPr>
          <a:lstStyle/>
          <a:p>
            <a:pPr algn="l">
              <a:lnSpc>
                <a:spcPct val="100000"/>
              </a:lnSpc>
              <a:spcAft>
                <a:spcPts val="0"/>
              </a:spcAft>
            </a:pPr>
            <a:r>
              <a:rPr sz="1600" b="0">
                <a:solidFill>
                  <a:srgbClr val="0A1A33"/>
                </a:solidFill>
                <a:latin typeface="Inter"/>
              </a:rPr>
              <a:t>A standing order to Germany, from a current account</a:t>
            </a:r>
          </a:p>
        </p:txBody>
      </p:sp>
      <p:sp>
        <p:nvSpPr>
          <p:cNvPr id="11" name="TextBox 10"/>
          <p:cNvSpPr txBox="1"/>
          <p:nvPr/>
        </p:nvSpPr>
        <p:spPr>
          <a:xfrm>
            <a:off x="7680960" y="2852928"/>
            <a:ext cx="2377440" cy="365760"/>
          </a:xfrm>
          <a:prstGeom prst="rect">
            <a:avLst/>
          </a:prstGeom>
          <a:noFill/>
        </p:spPr>
        <p:txBody>
          <a:bodyPr wrap="square" lIns="0" rIns="0" tIns="0" bIns="0" anchor="t">
            <a:spAutoFit/>
          </a:bodyPr>
          <a:lstStyle/>
          <a:p>
            <a:pPr algn="l">
              <a:lnSpc>
                <a:spcPct val="100000"/>
              </a:lnSpc>
              <a:spcAft>
                <a:spcPts val="0"/>
              </a:spcAft>
            </a:pPr>
            <a:r>
              <a:rPr sz="1600" b="1">
                <a:solidFill>
                  <a:srgbClr val="0A1A33"/>
                </a:solidFill>
                <a:latin typeface="Inter"/>
              </a:rPr>
              <a:t>No case</a:t>
            </a:r>
          </a:p>
        </p:txBody>
      </p:sp>
      <p:sp>
        <p:nvSpPr>
          <p:cNvPr id="12" name="TextBox 11"/>
          <p:cNvSpPr txBox="1"/>
          <p:nvPr/>
        </p:nvSpPr>
        <p:spPr>
          <a:xfrm>
            <a:off x="10058400" y="2880360"/>
            <a:ext cx="1307592" cy="365760"/>
          </a:xfrm>
          <a:prstGeom prst="rect">
            <a:avLst/>
          </a:prstGeom>
          <a:noFill/>
        </p:spPr>
        <p:txBody>
          <a:bodyPr wrap="square" lIns="0" rIns="0" tIns="0" bIns="0" anchor="t">
            <a:spAutoFit/>
          </a:bodyPr>
          <a:lstStyle/>
          <a:p>
            <a:pPr algn="r">
              <a:lnSpc>
                <a:spcPct val="100000"/>
              </a:lnSpc>
              <a:spcAft>
                <a:spcPts val="0"/>
              </a:spcAft>
            </a:pPr>
            <a:r>
              <a:rPr sz="1100" b="0">
                <a:solidFill>
                  <a:srgbClr val="5E6B7E"/>
                </a:solidFill>
                <a:latin typeface="Inter"/>
              </a:rPr>
              <a:t>guide p. 29 d</a:t>
            </a:r>
          </a:p>
        </p:txBody>
      </p:sp>
      <p:cxnSp>
        <p:nvCxnSpPr>
          <p:cNvPr id="13" name="Connector 12"/>
          <p:cNvCxnSpPr/>
          <p:nvPr/>
        </p:nvCxnSpPr>
        <p:spPr>
          <a:xfrm>
            <a:off x="822960" y="3383280"/>
            <a:ext cx="10545775" cy="0"/>
          </a:xfrm>
          <a:prstGeom prst="line">
            <a:avLst/>
          </a:prstGeom>
          <a:ln w="9525">
            <a:solidFill>
              <a:srgbClr val="D9DEE6"/>
            </a:solidFill>
          </a:ln>
        </p:spPr>
      </p:cxnSp>
      <p:sp>
        <p:nvSpPr>
          <p:cNvPr id="14" name="TextBox 13"/>
          <p:cNvSpPr txBox="1"/>
          <p:nvPr/>
        </p:nvSpPr>
        <p:spPr>
          <a:xfrm>
            <a:off x="822960" y="3630168"/>
            <a:ext cx="6583680" cy="365760"/>
          </a:xfrm>
          <a:prstGeom prst="rect">
            <a:avLst/>
          </a:prstGeom>
          <a:noFill/>
        </p:spPr>
        <p:txBody>
          <a:bodyPr wrap="square" lIns="0" rIns="0" tIns="0" bIns="0" anchor="t">
            <a:spAutoFit/>
          </a:bodyPr>
          <a:lstStyle/>
          <a:p>
            <a:pPr algn="l">
              <a:lnSpc>
                <a:spcPct val="100000"/>
              </a:lnSpc>
              <a:spcAft>
                <a:spcPts val="0"/>
              </a:spcAft>
            </a:pPr>
            <a:r>
              <a:rPr sz="1600" b="0">
                <a:solidFill>
                  <a:srgbClr val="0A1A33"/>
                </a:solidFill>
                <a:latin typeface="Inter"/>
              </a:rPr>
              <a:t>The same order, to the United States</a:t>
            </a:r>
          </a:p>
        </p:txBody>
      </p:sp>
      <p:sp>
        <p:nvSpPr>
          <p:cNvPr id="15" name="TextBox 14"/>
          <p:cNvSpPr txBox="1"/>
          <p:nvPr/>
        </p:nvSpPr>
        <p:spPr>
          <a:xfrm>
            <a:off x="7680960" y="3630168"/>
            <a:ext cx="2377440" cy="365760"/>
          </a:xfrm>
          <a:prstGeom prst="rect">
            <a:avLst/>
          </a:prstGeom>
          <a:noFill/>
        </p:spPr>
        <p:txBody>
          <a:bodyPr wrap="square" lIns="0" rIns="0" tIns="0" bIns="0" anchor="t">
            <a:spAutoFit/>
          </a:bodyPr>
          <a:lstStyle/>
          <a:p>
            <a:pPr algn="l">
              <a:lnSpc>
                <a:spcPct val="100000"/>
              </a:lnSpc>
              <a:spcAft>
                <a:spcPts val="0"/>
              </a:spcAft>
            </a:pPr>
            <a:r>
              <a:rPr sz="1600" b="1">
                <a:solidFill>
                  <a:srgbClr val="2557D6"/>
                </a:solidFill>
                <a:latin typeface="Inter"/>
              </a:rPr>
              <a:t>FATCA alert</a:t>
            </a:r>
          </a:p>
        </p:txBody>
      </p:sp>
      <p:sp>
        <p:nvSpPr>
          <p:cNvPr id="16" name="TextBox 15"/>
          <p:cNvSpPr txBox="1"/>
          <p:nvPr/>
        </p:nvSpPr>
        <p:spPr>
          <a:xfrm>
            <a:off x="10058400" y="3657600"/>
            <a:ext cx="1307592" cy="365760"/>
          </a:xfrm>
          <a:prstGeom prst="rect">
            <a:avLst/>
          </a:prstGeom>
          <a:noFill/>
        </p:spPr>
        <p:txBody>
          <a:bodyPr wrap="square" lIns="0" rIns="0" tIns="0" bIns="0" anchor="t">
            <a:spAutoFit/>
          </a:bodyPr>
          <a:lstStyle/>
          <a:p>
            <a:pPr algn="r">
              <a:lnSpc>
                <a:spcPct val="100000"/>
              </a:lnSpc>
              <a:spcAft>
                <a:spcPts val="0"/>
              </a:spcAft>
            </a:pPr>
            <a:r>
              <a:rPr sz="1100" b="0">
                <a:solidFill>
                  <a:srgbClr val="5E6B7E"/>
                </a:solidFill>
                <a:latin typeface="Inter"/>
              </a:rPr>
              <a:t>guide p. 31</a:t>
            </a:r>
          </a:p>
        </p:txBody>
      </p:sp>
      <p:cxnSp>
        <p:nvCxnSpPr>
          <p:cNvPr id="17" name="Connector 16"/>
          <p:cNvCxnSpPr/>
          <p:nvPr/>
        </p:nvCxnSpPr>
        <p:spPr>
          <a:xfrm>
            <a:off x="822960" y="4160520"/>
            <a:ext cx="10545775" cy="0"/>
          </a:xfrm>
          <a:prstGeom prst="line">
            <a:avLst/>
          </a:prstGeom>
          <a:ln w="9525">
            <a:solidFill>
              <a:srgbClr val="D9DEE6"/>
            </a:solidFill>
          </a:ln>
        </p:spPr>
      </p:cxnSp>
      <p:sp>
        <p:nvSpPr>
          <p:cNvPr id="18" name="TextBox 17"/>
          <p:cNvSpPr txBox="1"/>
          <p:nvPr/>
        </p:nvSpPr>
        <p:spPr>
          <a:xfrm>
            <a:off x="822960" y="4407408"/>
            <a:ext cx="6583680" cy="365760"/>
          </a:xfrm>
          <a:prstGeom prst="rect">
            <a:avLst/>
          </a:prstGeom>
          <a:noFill/>
        </p:spPr>
        <p:txBody>
          <a:bodyPr wrap="square" lIns="0" rIns="0" tIns="0" bIns="0" anchor="t">
            <a:spAutoFit/>
          </a:bodyPr>
          <a:lstStyle/>
          <a:p>
            <a:pPr algn="l">
              <a:lnSpc>
                <a:spcPct val="100000"/>
              </a:lnSpc>
              <a:spcAft>
                <a:spcPts val="0"/>
              </a:spcAft>
            </a:pPr>
            <a:r>
              <a:rPr sz="1600" b="0">
                <a:solidFill>
                  <a:srgbClr val="0A1A33"/>
                </a:solidFill>
                <a:latin typeface="Inter"/>
              </a:rPr>
              <a:t>A move from Cluj to Iasi</a:t>
            </a:r>
          </a:p>
        </p:txBody>
      </p:sp>
      <p:sp>
        <p:nvSpPr>
          <p:cNvPr id="19" name="TextBox 18"/>
          <p:cNvSpPr txBox="1"/>
          <p:nvPr/>
        </p:nvSpPr>
        <p:spPr>
          <a:xfrm>
            <a:off x="7680960" y="4407408"/>
            <a:ext cx="2377440" cy="365760"/>
          </a:xfrm>
          <a:prstGeom prst="rect">
            <a:avLst/>
          </a:prstGeom>
          <a:noFill/>
        </p:spPr>
        <p:txBody>
          <a:bodyPr wrap="square" lIns="0" rIns="0" tIns="0" bIns="0" anchor="t">
            <a:spAutoFit/>
          </a:bodyPr>
          <a:lstStyle/>
          <a:p>
            <a:pPr algn="l">
              <a:lnSpc>
                <a:spcPct val="100000"/>
              </a:lnSpc>
              <a:spcAft>
                <a:spcPts val="0"/>
              </a:spcAft>
            </a:pPr>
            <a:r>
              <a:rPr sz="1600" b="1">
                <a:solidFill>
                  <a:srgbClr val="0A1A33"/>
                </a:solidFill>
                <a:latin typeface="Inter"/>
              </a:rPr>
              <a:t>No case</a:t>
            </a:r>
          </a:p>
        </p:txBody>
      </p:sp>
      <p:sp>
        <p:nvSpPr>
          <p:cNvPr id="20" name="TextBox 19"/>
          <p:cNvSpPr txBox="1"/>
          <p:nvPr/>
        </p:nvSpPr>
        <p:spPr>
          <a:xfrm>
            <a:off x="10058400" y="4434840"/>
            <a:ext cx="1307592" cy="365760"/>
          </a:xfrm>
          <a:prstGeom prst="rect">
            <a:avLst/>
          </a:prstGeom>
          <a:noFill/>
        </p:spPr>
        <p:txBody>
          <a:bodyPr wrap="square" lIns="0" rIns="0" tIns="0" bIns="0" anchor="t">
            <a:spAutoFit/>
          </a:bodyPr>
          <a:lstStyle/>
          <a:p>
            <a:pPr algn="r">
              <a:lnSpc>
                <a:spcPct val="100000"/>
              </a:lnSpc>
              <a:spcAft>
                <a:spcPts val="0"/>
              </a:spcAft>
            </a:pPr>
            <a:r>
              <a:rPr sz="1100" b="0">
                <a:solidFill>
                  <a:srgbClr val="5E6B7E"/>
                </a:solidFill>
                <a:latin typeface="Inter"/>
              </a:rPr>
              <a:t>domestic</a:t>
            </a:r>
          </a:p>
        </p:txBody>
      </p:sp>
      <p:cxnSp>
        <p:nvCxnSpPr>
          <p:cNvPr id="21" name="Connector 20"/>
          <p:cNvCxnSpPr/>
          <p:nvPr/>
        </p:nvCxnSpPr>
        <p:spPr>
          <a:xfrm>
            <a:off x="822960" y="4937760"/>
            <a:ext cx="10545775" cy="0"/>
          </a:xfrm>
          <a:prstGeom prst="line">
            <a:avLst/>
          </a:prstGeom>
          <a:ln w="9525">
            <a:solidFill>
              <a:srgbClr val="D9DEE6"/>
            </a:solidFill>
          </a:ln>
        </p:spPr>
      </p:cxnSp>
      <p:sp>
        <p:nvSpPr>
          <p:cNvPr id="22" name="TextBox 21"/>
          <p:cNvSpPr txBox="1"/>
          <p:nvPr/>
        </p:nvSpPr>
        <p:spPr>
          <a:xfrm>
            <a:off x="822960" y="5349240"/>
            <a:ext cx="10545775" cy="365760"/>
          </a:xfrm>
          <a:prstGeom prst="rect">
            <a:avLst/>
          </a:prstGeom>
          <a:noFill/>
        </p:spPr>
        <p:txBody>
          <a:bodyPr wrap="square" lIns="0" rIns="0" tIns="0" bIns="0" anchor="t">
            <a:spAutoFit/>
          </a:bodyPr>
          <a:lstStyle/>
          <a:p>
            <a:pPr algn="l">
              <a:lnSpc>
                <a:spcPct val="100000"/>
              </a:lnSpc>
              <a:spcAft>
                <a:spcPts val="0"/>
              </a:spcAft>
            </a:pPr>
            <a:r>
              <a:rPr sz="1500" b="0">
                <a:solidFill>
                  <a:srgbClr val="5E6B7E"/>
                </a:solidFill>
                <a:latin typeface="Inter"/>
              </a:rPr>
              <a:t>Miss one: a fine per account. Flag one wrongly: wasted work and a confused customer.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A33"/>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9AA8BF"/>
                </a:solidFill>
                <a:latin typeface="Inter"/>
              </a:rPr>
              <a:t>06</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THE PRINCIPLE</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FFFFFF"/>
                </a:solidFill>
                <a:latin typeface="Inter"/>
              </a:rPr>
              <a:t>Code decides. AI explains. A person approves.</a:t>
            </a:r>
          </a:p>
        </p:txBody>
      </p:sp>
      <p:sp>
        <p:nvSpPr>
          <p:cNvPr id="5" name="TextBox 4"/>
          <p:cNvSpPr txBox="1"/>
          <p:nvPr/>
        </p:nvSpPr>
        <p:spPr>
          <a:xfrm>
            <a:off x="822960" y="1920240"/>
            <a:ext cx="1280160" cy="36576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CODE</a:t>
            </a:r>
          </a:p>
        </p:txBody>
      </p:sp>
      <p:sp>
        <p:nvSpPr>
          <p:cNvPr id="6" name="TextBox 5"/>
          <p:cNvSpPr txBox="1"/>
          <p:nvPr/>
        </p:nvSpPr>
        <p:spPr>
          <a:xfrm>
            <a:off x="2194560" y="1874520"/>
            <a:ext cx="4114800" cy="822960"/>
          </a:xfrm>
          <a:prstGeom prst="rect">
            <a:avLst/>
          </a:prstGeom>
          <a:noFill/>
        </p:spPr>
        <p:txBody>
          <a:bodyPr wrap="square" lIns="0" rIns="0" tIns="0" bIns="0" anchor="t">
            <a:spAutoFit/>
          </a:bodyPr>
          <a:lstStyle/>
          <a:p>
            <a:pPr algn="l">
              <a:lnSpc>
                <a:spcPct val="110000"/>
              </a:lnSpc>
              <a:spcAft>
                <a:spcPts val="0"/>
              </a:spcAft>
            </a:pPr>
            <a:r>
              <a:rPr sz="1600" b="0">
                <a:solidFill>
                  <a:srgbClr val="FFFFFF"/>
                </a:solidFill>
                <a:latin typeface="Inter"/>
              </a:rPr>
              <a:t>Applies the rules, cites the page and starts the deadline.</a:t>
            </a:r>
          </a:p>
        </p:txBody>
      </p:sp>
      <p:cxnSp>
        <p:nvCxnSpPr>
          <p:cNvPr id="7" name="Connector 6"/>
          <p:cNvCxnSpPr/>
          <p:nvPr/>
        </p:nvCxnSpPr>
        <p:spPr>
          <a:xfrm>
            <a:off x="822960" y="2926080"/>
            <a:ext cx="5486400" cy="0"/>
          </a:xfrm>
          <a:prstGeom prst="line">
            <a:avLst/>
          </a:prstGeom>
          <a:ln w="9525">
            <a:solidFill>
              <a:srgbClr val="2A3B5C"/>
            </a:solidFill>
          </a:ln>
        </p:spPr>
      </p:cxnSp>
      <p:sp>
        <p:nvSpPr>
          <p:cNvPr id="8" name="TextBox 7"/>
          <p:cNvSpPr txBox="1"/>
          <p:nvPr/>
        </p:nvSpPr>
        <p:spPr>
          <a:xfrm>
            <a:off x="822960" y="3108960"/>
            <a:ext cx="1280160" cy="36576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AI</a:t>
            </a:r>
          </a:p>
        </p:txBody>
      </p:sp>
      <p:sp>
        <p:nvSpPr>
          <p:cNvPr id="9" name="TextBox 8"/>
          <p:cNvSpPr txBox="1"/>
          <p:nvPr/>
        </p:nvSpPr>
        <p:spPr>
          <a:xfrm>
            <a:off x="2194560" y="3063240"/>
            <a:ext cx="4114800" cy="822960"/>
          </a:xfrm>
          <a:prstGeom prst="rect">
            <a:avLst/>
          </a:prstGeom>
          <a:noFill/>
        </p:spPr>
        <p:txBody>
          <a:bodyPr wrap="square" lIns="0" rIns="0" tIns="0" bIns="0" anchor="t">
            <a:spAutoFit/>
          </a:bodyPr>
          <a:lstStyle/>
          <a:p>
            <a:pPr algn="l">
              <a:lnSpc>
                <a:spcPct val="110000"/>
              </a:lnSpc>
              <a:spcAft>
                <a:spcPts val="0"/>
              </a:spcAft>
            </a:pPr>
            <a:r>
              <a:rPr sz="1600" b="0">
                <a:solidFill>
                  <a:srgbClr val="FFFFFF"/>
                </a:solidFill>
                <a:latin typeface="Inter"/>
              </a:rPr>
              <a:t>Reads the documents, quotes the evidence, drafts the letter.</a:t>
            </a:r>
          </a:p>
        </p:txBody>
      </p:sp>
      <p:cxnSp>
        <p:nvCxnSpPr>
          <p:cNvPr id="10" name="Connector 9"/>
          <p:cNvCxnSpPr/>
          <p:nvPr/>
        </p:nvCxnSpPr>
        <p:spPr>
          <a:xfrm>
            <a:off x="822960" y="4114800"/>
            <a:ext cx="5486400" cy="0"/>
          </a:xfrm>
          <a:prstGeom prst="line">
            <a:avLst/>
          </a:prstGeom>
          <a:ln w="9525">
            <a:solidFill>
              <a:srgbClr val="2A3B5C"/>
            </a:solidFill>
          </a:ln>
        </p:spPr>
      </p:cxnSp>
      <p:sp>
        <p:nvSpPr>
          <p:cNvPr id="11" name="TextBox 10"/>
          <p:cNvSpPr txBox="1"/>
          <p:nvPr/>
        </p:nvSpPr>
        <p:spPr>
          <a:xfrm>
            <a:off x="822960" y="4297680"/>
            <a:ext cx="1280160" cy="36576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PERSON</a:t>
            </a:r>
          </a:p>
        </p:txBody>
      </p:sp>
      <p:sp>
        <p:nvSpPr>
          <p:cNvPr id="12" name="TextBox 11"/>
          <p:cNvSpPr txBox="1"/>
          <p:nvPr/>
        </p:nvSpPr>
        <p:spPr>
          <a:xfrm>
            <a:off x="2194560" y="4251960"/>
            <a:ext cx="4114800" cy="822960"/>
          </a:xfrm>
          <a:prstGeom prst="rect">
            <a:avLst/>
          </a:prstGeom>
          <a:noFill/>
        </p:spPr>
        <p:txBody>
          <a:bodyPr wrap="square" lIns="0" rIns="0" tIns="0" bIns="0" anchor="t">
            <a:spAutoFit/>
          </a:bodyPr>
          <a:lstStyle/>
          <a:p>
            <a:pPr algn="l">
              <a:lnSpc>
                <a:spcPct val="110000"/>
              </a:lnSpc>
              <a:spcAft>
                <a:spcPts val="0"/>
              </a:spcAft>
            </a:pPr>
            <a:r>
              <a:rPr sz="1600" b="0">
                <a:solidFill>
                  <a:srgbClr val="FFFFFF"/>
                </a:solidFill>
                <a:latin typeface="Inter"/>
              </a:rPr>
              <a:t>Approves every letter and every closing.</a:t>
            </a:r>
          </a:p>
        </p:txBody>
      </p:sp>
      <p:graphicFrame>
        <p:nvGraphicFramePr>
          <p:cNvPr id="13" name="Chart 12"/>
          <p:cNvGraphicFramePr>
            <a:graphicFrameLocks noGrp="1"/>
          </p:cNvGraphicFramePr>
          <p:nvPr/>
        </p:nvGraphicFramePr>
        <p:xfrm>
          <a:off x="6949440" y="1600200"/>
          <a:ext cx="3840480" cy="3840480"/>
        </p:xfrm>
        <a:graphic>
          <a:graphicData uri="http://schemas.openxmlformats.org/drawingml/2006/chart">
            <c:chart xmlns:c="http://schemas.openxmlformats.org/drawingml/2006/chart" r:id="rId3"/>
          </a:graphicData>
        </a:graphic>
      </p:graphicFrame>
      <p:sp>
        <p:nvSpPr>
          <p:cNvPr id="14" name="TextBox 13"/>
          <p:cNvSpPr txBox="1"/>
          <p:nvPr/>
        </p:nvSpPr>
        <p:spPr>
          <a:xfrm>
            <a:off x="6949440" y="3154680"/>
            <a:ext cx="3840480" cy="731520"/>
          </a:xfrm>
          <a:prstGeom prst="rect">
            <a:avLst/>
          </a:prstGeom>
          <a:noFill/>
        </p:spPr>
        <p:txBody>
          <a:bodyPr wrap="square" lIns="0" rIns="0" tIns="0" bIns="0" anchor="t">
            <a:spAutoFit/>
          </a:bodyPr>
          <a:lstStyle/>
          <a:p>
            <a:pPr algn="ctr">
              <a:lnSpc>
                <a:spcPct val="100000"/>
              </a:lnSpc>
              <a:spcAft>
                <a:spcPts val="0"/>
              </a:spcAft>
            </a:pPr>
            <a:r>
              <a:rPr sz="3400" b="1">
                <a:solidFill>
                  <a:srgbClr val="FFFFFF"/>
                </a:solidFill>
                <a:latin typeface="Inter"/>
              </a:rPr>
              <a:t>29</a:t>
            </a:r>
          </a:p>
          <a:p>
            <a:pPr algn="ctr">
              <a:lnSpc>
                <a:spcPct val="100000"/>
              </a:lnSpc>
              <a:spcAft>
                <a:spcPts val="0"/>
              </a:spcAft>
            </a:pPr>
            <a:r>
              <a:rPr sz="1200" b="0">
                <a:solidFill>
                  <a:srgbClr val="9AA8BF"/>
                </a:solidFill>
                <a:latin typeface="Inter"/>
              </a:rPr>
              <a:t>rules</a:t>
            </a:r>
          </a:p>
        </p:txBody>
      </p:sp>
      <p:sp>
        <p:nvSpPr>
          <p:cNvPr id="15" name="Rectangle 14"/>
          <p:cNvSpPr/>
          <p:nvPr/>
        </p:nvSpPr>
        <p:spPr>
          <a:xfrm>
            <a:off x="7589520" y="5586983"/>
            <a:ext cx="118872" cy="118872"/>
          </a:xfrm>
          <a:prstGeom prst="rect">
            <a:avLst/>
          </a:prstGeom>
          <a:solidFill>
            <a:srgbClr val="FFFFFF"/>
          </a:solidFill>
          <a:ln>
            <a:noFill/>
          </a:ln>
          <a:effectLst/>
        </p:spPr>
        <p:txBody>
          <a:bodyPr rtlCol="0" anchor="ctr"/>
          <a:lstStyle/>
          <a:p>
            <a:pPr algn="ctr"/>
          </a:p>
        </p:txBody>
      </p:sp>
      <p:sp>
        <p:nvSpPr>
          <p:cNvPr id="16" name="TextBox 15"/>
          <p:cNvSpPr txBox="1"/>
          <p:nvPr/>
        </p:nvSpPr>
        <p:spPr>
          <a:xfrm>
            <a:off x="7818120" y="5532120"/>
            <a:ext cx="3200400" cy="274320"/>
          </a:xfrm>
          <a:prstGeom prst="rect">
            <a:avLst/>
          </a:prstGeom>
          <a:noFill/>
        </p:spPr>
        <p:txBody>
          <a:bodyPr wrap="square" lIns="0" rIns="0" tIns="0" bIns="0" anchor="t">
            <a:spAutoFit/>
          </a:bodyPr>
          <a:lstStyle/>
          <a:p>
            <a:pPr algn="l">
              <a:lnSpc>
                <a:spcPct val="100000"/>
              </a:lnSpc>
              <a:spcAft>
                <a:spcPts val="0"/>
              </a:spcAft>
            </a:pPr>
            <a:r>
              <a:rPr sz="1100" b="0">
                <a:solidFill>
                  <a:srgbClr val="9AA8BF"/>
                </a:solidFill>
                <a:latin typeface="Inter"/>
              </a:rPr>
              <a:t>24  from the law and the ANAF guide</a:t>
            </a:r>
          </a:p>
        </p:txBody>
      </p:sp>
      <p:sp>
        <p:nvSpPr>
          <p:cNvPr id="17" name="Rectangle 16"/>
          <p:cNvSpPr/>
          <p:nvPr/>
        </p:nvSpPr>
        <p:spPr>
          <a:xfrm>
            <a:off x="7589520" y="5843016"/>
            <a:ext cx="118872" cy="118872"/>
          </a:xfrm>
          <a:prstGeom prst="rect">
            <a:avLst/>
          </a:prstGeom>
          <a:solidFill>
            <a:srgbClr val="8DB0F5"/>
          </a:solidFill>
          <a:ln>
            <a:noFill/>
          </a:ln>
          <a:effectLst/>
        </p:spPr>
        <p:txBody>
          <a:bodyPr rtlCol="0" anchor="ctr"/>
          <a:lstStyle/>
          <a:p>
            <a:pPr algn="ctr"/>
          </a:p>
        </p:txBody>
      </p:sp>
      <p:sp>
        <p:nvSpPr>
          <p:cNvPr id="18" name="TextBox 17"/>
          <p:cNvSpPr txBox="1"/>
          <p:nvPr/>
        </p:nvSpPr>
        <p:spPr>
          <a:xfrm>
            <a:off x="7818120" y="5788152"/>
            <a:ext cx="3200400" cy="274320"/>
          </a:xfrm>
          <a:prstGeom prst="rect">
            <a:avLst/>
          </a:prstGeom>
          <a:noFill/>
        </p:spPr>
        <p:txBody>
          <a:bodyPr wrap="square" lIns="0" rIns="0" tIns="0" bIns="0" anchor="t">
            <a:spAutoFit/>
          </a:bodyPr>
          <a:lstStyle/>
          <a:p>
            <a:pPr algn="l">
              <a:lnSpc>
                <a:spcPct val="100000"/>
              </a:lnSpc>
              <a:spcAft>
                <a:spcPts val="0"/>
              </a:spcAft>
            </a:pPr>
            <a:r>
              <a:rPr sz="1100" b="0">
                <a:solidFill>
                  <a:srgbClr val="9AA8BF"/>
                </a:solidFill>
                <a:latin typeface="Inter"/>
              </a:rPr>
              <a:t>3  our documented reading</a:t>
            </a:r>
          </a:p>
        </p:txBody>
      </p:sp>
      <p:sp>
        <p:nvSpPr>
          <p:cNvPr id="19" name="Rectangle 18"/>
          <p:cNvSpPr/>
          <p:nvPr/>
        </p:nvSpPr>
        <p:spPr>
          <a:xfrm>
            <a:off x="7589520" y="6099047"/>
            <a:ext cx="118872" cy="118872"/>
          </a:xfrm>
          <a:prstGeom prst="rect">
            <a:avLst/>
          </a:prstGeom>
          <a:solidFill>
            <a:srgbClr val="4A5F86"/>
          </a:solidFill>
          <a:ln>
            <a:noFill/>
          </a:ln>
          <a:effectLst/>
        </p:spPr>
        <p:txBody>
          <a:bodyPr rtlCol="0" anchor="ctr"/>
          <a:lstStyle/>
          <a:p>
            <a:pPr algn="ctr"/>
          </a:p>
        </p:txBody>
      </p:sp>
      <p:sp>
        <p:nvSpPr>
          <p:cNvPr id="20" name="TextBox 19"/>
          <p:cNvSpPr txBox="1"/>
          <p:nvPr/>
        </p:nvSpPr>
        <p:spPr>
          <a:xfrm>
            <a:off x="7818120" y="6044183"/>
            <a:ext cx="3200400" cy="274320"/>
          </a:xfrm>
          <a:prstGeom prst="rect">
            <a:avLst/>
          </a:prstGeom>
          <a:noFill/>
        </p:spPr>
        <p:txBody>
          <a:bodyPr wrap="square" lIns="0" rIns="0" tIns="0" bIns="0" anchor="t">
            <a:spAutoFit/>
          </a:bodyPr>
          <a:lstStyle/>
          <a:p>
            <a:pPr algn="l">
              <a:lnSpc>
                <a:spcPct val="100000"/>
              </a:lnSpc>
              <a:spcAft>
                <a:spcPts val="0"/>
              </a:spcAft>
            </a:pPr>
            <a:r>
              <a:rPr sz="1100" b="0">
                <a:solidFill>
                  <a:srgbClr val="9AA8BF"/>
                </a:solidFill>
                <a:latin typeface="Inter"/>
              </a:rPr>
              <a:t>2  bank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07</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THE AGENT</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One agent. Two human checkpoints.</a:t>
            </a:r>
          </a:p>
        </p:txBody>
      </p:sp>
      <p:sp>
        <p:nvSpPr>
          <p:cNvPr id="5" name="TextBox 4"/>
          <p:cNvSpPr txBox="1"/>
          <p:nvPr/>
        </p:nvSpPr>
        <p:spPr>
          <a:xfrm>
            <a:off x="822960" y="192024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5E6B7E"/>
                </a:solidFill>
                <a:latin typeface="Inter"/>
              </a:rPr>
              <a:t>WHEN A CASE OPENS</a:t>
            </a:r>
          </a:p>
        </p:txBody>
      </p:sp>
      <p:cxnSp>
        <p:nvCxnSpPr>
          <p:cNvPr id="6" name="Connector 5"/>
          <p:cNvCxnSpPr/>
          <p:nvPr/>
        </p:nvCxnSpPr>
        <p:spPr>
          <a:xfrm>
            <a:off x="822960" y="2331720"/>
            <a:ext cx="10545775" cy="0"/>
          </a:xfrm>
          <a:prstGeom prst="line">
            <a:avLst/>
          </a:prstGeom>
          <a:ln w="9525">
            <a:solidFill>
              <a:srgbClr val="D9DEE6"/>
            </a:solidFill>
          </a:ln>
        </p:spPr>
      </p:cxnSp>
      <p:sp>
        <p:nvSpPr>
          <p:cNvPr id="7" name="Oval 6"/>
          <p:cNvSpPr/>
          <p:nvPr/>
        </p:nvSpPr>
        <p:spPr>
          <a:xfrm>
            <a:off x="822959" y="2276856"/>
            <a:ext cx="109728" cy="109728"/>
          </a:xfrm>
          <a:prstGeom prst="ellipse">
            <a:avLst/>
          </a:prstGeom>
          <a:solidFill>
            <a:srgbClr val="0A1A33"/>
          </a:solidFill>
          <a:ln>
            <a:noFill/>
          </a:ln>
          <a:effectLst/>
        </p:spPr>
        <p:txBody>
          <a:bodyPr rtlCol="0" anchor="ctr"/>
          <a:lstStyle/>
          <a:p>
            <a:pPr algn="ctr"/>
          </a:p>
        </p:txBody>
      </p:sp>
      <p:sp>
        <p:nvSpPr>
          <p:cNvPr id="8" name="TextBox 7"/>
          <p:cNvSpPr txBox="1"/>
          <p:nvPr/>
        </p:nvSpPr>
        <p:spPr>
          <a:xfrm>
            <a:off x="822960" y="254203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Reads the documents</a:t>
            </a:r>
          </a:p>
        </p:txBody>
      </p:sp>
      <p:sp>
        <p:nvSpPr>
          <p:cNvPr id="9" name="Oval 8"/>
          <p:cNvSpPr/>
          <p:nvPr/>
        </p:nvSpPr>
        <p:spPr>
          <a:xfrm>
            <a:off x="3459403" y="2276856"/>
            <a:ext cx="109728" cy="109728"/>
          </a:xfrm>
          <a:prstGeom prst="ellipse">
            <a:avLst/>
          </a:prstGeom>
          <a:solidFill>
            <a:srgbClr val="0A1A33"/>
          </a:solidFill>
          <a:ln>
            <a:noFill/>
          </a:ln>
          <a:effectLst/>
        </p:spPr>
        <p:txBody>
          <a:bodyPr rtlCol="0" anchor="ctr"/>
          <a:lstStyle/>
          <a:p>
            <a:pPr algn="ctr"/>
          </a:p>
        </p:txBody>
      </p:sp>
      <p:sp>
        <p:nvSpPr>
          <p:cNvPr id="10" name="TextBox 9"/>
          <p:cNvSpPr txBox="1"/>
          <p:nvPr/>
        </p:nvSpPr>
        <p:spPr>
          <a:xfrm>
            <a:off x="3459403" y="254203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Quotes the evidence</a:t>
            </a:r>
          </a:p>
        </p:txBody>
      </p:sp>
      <p:sp>
        <p:nvSpPr>
          <p:cNvPr id="11" name="Oval 10"/>
          <p:cNvSpPr/>
          <p:nvPr/>
        </p:nvSpPr>
        <p:spPr>
          <a:xfrm>
            <a:off x="6095847" y="2276856"/>
            <a:ext cx="109728" cy="109728"/>
          </a:xfrm>
          <a:prstGeom prst="ellipse">
            <a:avLst/>
          </a:prstGeom>
          <a:solidFill>
            <a:srgbClr val="0A1A33"/>
          </a:solidFill>
          <a:ln>
            <a:noFill/>
          </a:ln>
          <a:effectLst/>
        </p:spPr>
        <p:txBody>
          <a:bodyPr rtlCol="0" anchor="ctr"/>
          <a:lstStyle/>
          <a:p>
            <a:pPr algn="ctr"/>
          </a:p>
        </p:txBody>
      </p:sp>
      <p:sp>
        <p:nvSpPr>
          <p:cNvPr id="12" name="TextBox 11"/>
          <p:cNvSpPr txBox="1"/>
          <p:nvPr/>
        </p:nvSpPr>
        <p:spPr>
          <a:xfrm>
            <a:off x="6095847" y="254203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Drafts the letter</a:t>
            </a:r>
          </a:p>
        </p:txBody>
      </p:sp>
      <p:sp>
        <p:nvSpPr>
          <p:cNvPr id="13" name="Oval 12"/>
          <p:cNvSpPr/>
          <p:nvPr/>
        </p:nvSpPr>
        <p:spPr>
          <a:xfrm>
            <a:off x="8732291" y="2276856"/>
            <a:ext cx="109728" cy="109728"/>
          </a:xfrm>
          <a:prstGeom prst="ellipse">
            <a:avLst/>
          </a:prstGeom>
          <a:solidFill>
            <a:srgbClr val="2557D6"/>
          </a:solidFill>
          <a:ln>
            <a:noFill/>
          </a:ln>
          <a:effectLst/>
        </p:spPr>
        <p:txBody>
          <a:bodyPr rtlCol="0" anchor="ctr"/>
          <a:lstStyle/>
          <a:p>
            <a:pPr algn="ctr"/>
          </a:p>
        </p:txBody>
      </p:sp>
      <p:sp>
        <p:nvSpPr>
          <p:cNvPr id="14" name="TextBox 13"/>
          <p:cNvSpPr txBox="1"/>
          <p:nvPr/>
        </p:nvSpPr>
        <p:spPr>
          <a:xfrm>
            <a:off x="8732291" y="2542032"/>
            <a:ext cx="2362123" cy="548640"/>
          </a:xfrm>
          <a:prstGeom prst="rect">
            <a:avLst/>
          </a:prstGeom>
          <a:noFill/>
        </p:spPr>
        <p:txBody>
          <a:bodyPr wrap="square" lIns="0" rIns="0" tIns="0" bIns="0" anchor="t">
            <a:spAutoFit/>
          </a:bodyPr>
          <a:lstStyle/>
          <a:p>
            <a:pPr algn="l">
              <a:lnSpc>
                <a:spcPct val="105000"/>
              </a:lnSpc>
              <a:spcAft>
                <a:spcPts val="0"/>
              </a:spcAft>
            </a:pPr>
            <a:r>
              <a:rPr sz="1500" b="1">
                <a:solidFill>
                  <a:srgbClr val="2557D6"/>
                </a:solidFill>
                <a:latin typeface="Inter"/>
              </a:rPr>
              <a:t>Person approves the letter</a:t>
            </a:r>
          </a:p>
        </p:txBody>
      </p:sp>
      <p:sp>
        <p:nvSpPr>
          <p:cNvPr id="15" name="TextBox 14"/>
          <p:cNvSpPr txBox="1"/>
          <p:nvPr/>
        </p:nvSpPr>
        <p:spPr>
          <a:xfrm>
            <a:off x="822960" y="356616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5E6B7E"/>
                </a:solidFill>
                <a:latin typeface="Inter"/>
              </a:rPr>
              <a:t>WHEN THE CUSTOMER ANSWERS</a:t>
            </a:r>
          </a:p>
        </p:txBody>
      </p:sp>
      <p:cxnSp>
        <p:nvCxnSpPr>
          <p:cNvPr id="16" name="Connector 15"/>
          <p:cNvCxnSpPr/>
          <p:nvPr/>
        </p:nvCxnSpPr>
        <p:spPr>
          <a:xfrm>
            <a:off x="822960" y="3977640"/>
            <a:ext cx="10545775" cy="0"/>
          </a:xfrm>
          <a:prstGeom prst="line">
            <a:avLst/>
          </a:prstGeom>
          <a:ln w="9525">
            <a:solidFill>
              <a:srgbClr val="D9DEE6"/>
            </a:solidFill>
          </a:ln>
        </p:spPr>
      </p:cxnSp>
      <p:sp>
        <p:nvSpPr>
          <p:cNvPr id="17" name="Oval 16"/>
          <p:cNvSpPr/>
          <p:nvPr/>
        </p:nvSpPr>
        <p:spPr>
          <a:xfrm>
            <a:off x="822959" y="3922776"/>
            <a:ext cx="109728" cy="109728"/>
          </a:xfrm>
          <a:prstGeom prst="ellipse">
            <a:avLst/>
          </a:prstGeom>
          <a:solidFill>
            <a:srgbClr val="0A1A33"/>
          </a:solidFill>
          <a:ln>
            <a:noFill/>
          </a:ln>
          <a:effectLst/>
        </p:spPr>
        <p:txBody>
          <a:bodyPr rtlCol="0" anchor="ctr"/>
          <a:lstStyle/>
          <a:p>
            <a:pPr algn="ctr"/>
          </a:p>
        </p:txBody>
      </p:sp>
      <p:sp>
        <p:nvSpPr>
          <p:cNvPr id="18" name="TextBox 17"/>
          <p:cNvSpPr txBox="1"/>
          <p:nvPr/>
        </p:nvSpPr>
        <p:spPr>
          <a:xfrm>
            <a:off x="822960" y="418795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Reads the new declaration</a:t>
            </a:r>
          </a:p>
        </p:txBody>
      </p:sp>
      <p:sp>
        <p:nvSpPr>
          <p:cNvPr id="19" name="Oval 18"/>
          <p:cNvSpPr/>
          <p:nvPr/>
        </p:nvSpPr>
        <p:spPr>
          <a:xfrm>
            <a:off x="3459403" y="3922776"/>
            <a:ext cx="109728" cy="109728"/>
          </a:xfrm>
          <a:prstGeom prst="ellipse">
            <a:avLst/>
          </a:prstGeom>
          <a:solidFill>
            <a:srgbClr val="0A1A33"/>
          </a:solidFill>
          <a:ln>
            <a:noFill/>
          </a:ln>
          <a:effectLst/>
        </p:spPr>
        <p:txBody>
          <a:bodyPr rtlCol="0" anchor="ctr"/>
          <a:lstStyle/>
          <a:p>
            <a:pPr algn="ctr"/>
          </a:p>
        </p:txBody>
      </p:sp>
      <p:sp>
        <p:nvSpPr>
          <p:cNvPr id="20" name="TextBox 19"/>
          <p:cNvSpPr txBox="1"/>
          <p:nvPr/>
        </p:nvSpPr>
        <p:spPr>
          <a:xfrm>
            <a:off x="3459403" y="418795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Checks the TIN format</a:t>
            </a:r>
          </a:p>
        </p:txBody>
      </p:sp>
      <p:sp>
        <p:nvSpPr>
          <p:cNvPr id="21" name="Oval 20"/>
          <p:cNvSpPr/>
          <p:nvPr/>
        </p:nvSpPr>
        <p:spPr>
          <a:xfrm>
            <a:off x="6095847" y="3922776"/>
            <a:ext cx="109728" cy="109728"/>
          </a:xfrm>
          <a:prstGeom prst="ellipse">
            <a:avLst/>
          </a:prstGeom>
          <a:solidFill>
            <a:srgbClr val="0A1A33"/>
          </a:solidFill>
          <a:ln>
            <a:noFill/>
          </a:ln>
          <a:effectLst/>
        </p:spPr>
        <p:txBody>
          <a:bodyPr rtlCol="0" anchor="ctr"/>
          <a:lstStyle/>
          <a:p>
            <a:pPr algn="ctr"/>
          </a:p>
        </p:txBody>
      </p:sp>
      <p:sp>
        <p:nvSpPr>
          <p:cNvPr id="22" name="TextBox 21"/>
          <p:cNvSpPr txBox="1"/>
          <p:nvPr/>
        </p:nvSpPr>
        <p:spPr>
          <a:xfrm>
            <a:off x="6095847" y="4187952"/>
            <a:ext cx="2362123" cy="548640"/>
          </a:xfrm>
          <a:prstGeom prst="rect">
            <a:avLst/>
          </a:prstGeom>
          <a:noFill/>
        </p:spPr>
        <p:txBody>
          <a:bodyPr wrap="square" lIns="0" rIns="0" tIns="0" bIns="0" anchor="t">
            <a:spAutoFit/>
          </a:bodyPr>
          <a:lstStyle/>
          <a:p>
            <a:pPr algn="l">
              <a:lnSpc>
                <a:spcPct val="105000"/>
              </a:lnSpc>
              <a:spcAft>
                <a:spcPts val="0"/>
              </a:spcAft>
            </a:pPr>
            <a:r>
              <a:rPr sz="1500" b="0">
                <a:solidFill>
                  <a:srgbClr val="0A1A33"/>
                </a:solidFill>
                <a:latin typeface="Inter"/>
              </a:rPr>
              <a:t>Code re-runs the rules</a:t>
            </a:r>
          </a:p>
        </p:txBody>
      </p:sp>
      <p:sp>
        <p:nvSpPr>
          <p:cNvPr id="23" name="Oval 22"/>
          <p:cNvSpPr/>
          <p:nvPr/>
        </p:nvSpPr>
        <p:spPr>
          <a:xfrm>
            <a:off x="8732291" y="3922776"/>
            <a:ext cx="109728" cy="109728"/>
          </a:xfrm>
          <a:prstGeom prst="ellipse">
            <a:avLst/>
          </a:prstGeom>
          <a:solidFill>
            <a:srgbClr val="2557D6"/>
          </a:solidFill>
          <a:ln>
            <a:noFill/>
          </a:ln>
          <a:effectLst/>
        </p:spPr>
        <p:txBody>
          <a:bodyPr rtlCol="0" anchor="ctr"/>
          <a:lstStyle/>
          <a:p>
            <a:pPr algn="ctr"/>
          </a:p>
        </p:txBody>
      </p:sp>
      <p:sp>
        <p:nvSpPr>
          <p:cNvPr id="24" name="TextBox 23"/>
          <p:cNvSpPr txBox="1"/>
          <p:nvPr/>
        </p:nvSpPr>
        <p:spPr>
          <a:xfrm>
            <a:off x="8732291" y="4187952"/>
            <a:ext cx="2362123" cy="548640"/>
          </a:xfrm>
          <a:prstGeom prst="rect">
            <a:avLst/>
          </a:prstGeom>
          <a:noFill/>
        </p:spPr>
        <p:txBody>
          <a:bodyPr wrap="square" lIns="0" rIns="0" tIns="0" bIns="0" anchor="t">
            <a:spAutoFit/>
          </a:bodyPr>
          <a:lstStyle/>
          <a:p>
            <a:pPr algn="l">
              <a:lnSpc>
                <a:spcPct val="105000"/>
              </a:lnSpc>
              <a:spcAft>
                <a:spcPts val="0"/>
              </a:spcAft>
            </a:pPr>
            <a:r>
              <a:rPr sz="1500" b="1">
                <a:solidFill>
                  <a:srgbClr val="2557D6"/>
                </a:solidFill>
                <a:latin typeface="Inter"/>
              </a:rPr>
              <a:t>Person approves the closing</a:t>
            </a:r>
          </a:p>
        </p:txBody>
      </p:sp>
      <p:sp>
        <p:nvSpPr>
          <p:cNvPr id="25" name="TextBox 24"/>
          <p:cNvSpPr txBox="1"/>
          <p:nvPr/>
        </p:nvSpPr>
        <p:spPr>
          <a:xfrm>
            <a:off x="822960" y="5349240"/>
            <a:ext cx="10545775" cy="365760"/>
          </a:xfrm>
          <a:prstGeom prst="rect">
            <a:avLst/>
          </a:prstGeom>
          <a:noFill/>
        </p:spPr>
        <p:txBody>
          <a:bodyPr wrap="square" lIns="0" rIns="0" tIns="0" bIns="0" anchor="t">
            <a:spAutoFit/>
          </a:bodyPr>
          <a:lstStyle/>
          <a:p>
            <a:pPr algn="l">
              <a:lnSpc>
                <a:spcPct val="100000"/>
              </a:lnSpc>
              <a:spcAft>
                <a:spcPts val="0"/>
              </a:spcAft>
            </a:pPr>
            <a:r>
              <a:rPr sz="1300" b="0">
                <a:solidFill>
                  <a:srgbClr val="5E6B7E"/>
                </a:solidFill>
                <a:latin typeface="Inter"/>
              </a:rPr>
              <a:t>14 tools  ·  Claude on Amazon Bedrock  ·  The model never decides an indicium, a deadline or an alert.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08</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TRUST</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AI output counts only after code checks it.</a:t>
            </a:r>
          </a:p>
        </p:txBody>
      </p:sp>
      <p:sp>
        <p:nvSpPr>
          <p:cNvPr id="5" name="TextBox 4"/>
          <p:cNvSpPr txBox="1"/>
          <p:nvPr/>
        </p:nvSpPr>
        <p:spPr>
          <a:xfrm>
            <a:off x="822960" y="1463040"/>
            <a:ext cx="10545775" cy="365760"/>
          </a:xfrm>
          <a:prstGeom prst="rect">
            <a:avLst/>
          </a:prstGeom>
          <a:noFill/>
        </p:spPr>
        <p:txBody>
          <a:bodyPr wrap="square" lIns="0" rIns="0" tIns="0" bIns="0" anchor="t">
            <a:spAutoFit/>
          </a:bodyPr>
          <a:lstStyle/>
          <a:p>
            <a:pPr algn="l">
              <a:lnSpc>
                <a:spcPct val="100000"/>
              </a:lnSpc>
              <a:spcAft>
                <a:spcPts val="0"/>
              </a:spcAft>
            </a:pPr>
            <a:r>
              <a:rPr sz="1300" b="0">
                <a:solidFill>
                  <a:srgbClr val="5E6B7E"/>
                </a:solidFill>
                <a:latin typeface="Inter"/>
              </a:rPr>
              <a:t>Test bench: checks passed, out of cases tested</a:t>
            </a:r>
          </a:p>
        </p:txBody>
      </p:sp>
      <p:graphicFrame>
        <p:nvGraphicFramePr>
          <p:cNvPr id="6" name="Chart 5"/>
          <p:cNvGraphicFramePr>
            <a:graphicFrameLocks noGrp="1"/>
          </p:cNvGraphicFramePr>
          <p:nvPr/>
        </p:nvGraphicFramePr>
        <p:xfrm>
          <a:off x="731520" y="1828800"/>
          <a:ext cx="7498079" cy="4023360"/>
        </p:xfrm>
        <a:graphic>
          <a:graphicData uri="http://schemas.openxmlformats.org/drawingml/2006/chart">
            <c:chart xmlns:c="http://schemas.openxmlformats.org/drawingml/2006/chart" r:id="rId3"/>
          </a:graphicData>
        </a:graphic>
      </p:graphicFrame>
      <p:sp>
        <p:nvSpPr>
          <p:cNvPr id="7" name="TextBox 6"/>
          <p:cNvSpPr txBox="1"/>
          <p:nvPr/>
        </p:nvSpPr>
        <p:spPr>
          <a:xfrm>
            <a:off x="8778240" y="2011680"/>
            <a:ext cx="2590495" cy="457200"/>
          </a:xfrm>
          <a:prstGeom prst="rect">
            <a:avLst/>
          </a:prstGeom>
          <a:noFill/>
        </p:spPr>
        <p:txBody>
          <a:bodyPr wrap="square" lIns="0" rIns="0" tIns="0" bIns="0" anchor="t">
            <a:spAutoFit/>
          </a:bodyPr>
          <a:lstStyle/>
          <a:p>
            <a:pPr algn="l">
              <a:lnSpc>
                <a:spcPct val="100000"/>
              </a:lnSpc>
              <a:spcAft>
                <a:spcPts val="0"/>
              </a:spcAft>
            </a:pPr>
            <a:r>
              <a:rPr sz="2200" b="1">
                <a:solidFill>
                  <a:srgbClr val="2557D6"/>
                </a:solidFill>
                <a:latin typeface="Inter"/>
              </a:rPr>
              <a:t>65 / 65</a:t>
            </a:r>
          </a:p>
        </p:txBody>
      </p:sp>
      <p:sp>
        <p:nvSpPr>
          <p:cNvPr id="8" name="TextBox 7"/>
          <p:cNvSpPr txBox="1"/>
          <p:nvPr/>
        </p:nvSpPr>
        <p:spPr>
          <a:xfrm>
            <a:off x="8778240" y="2423160"/>
            <a:ext cx="2590495" cy="548640"/>
          </a:xfrm>
          <a:prstGeom prst="rect">
            <a:avLst/>
          </a:prstGeom>
          <a:noFill/>
        </p:spPr>
        <p:txBody>
          <a:bodyPr wrap="square" lIns="0" rIns="0" tIns="0" bIns="0" anchor="t">
            <a:spAutoFit/>
          </a:bodyPr>
          <a:lstStyle/>
          <a:p>
            <a:pPr algn="l">
              <a:lnSpc>
                <a:spcPct val="110000"/>
              </a:lnSpc>
              <a:spcAft>
                <a:spcPts val="0"/>
              </a:spcAft>
            </a:pPr>
            <a:r>
              <a:rPr sz="1200" b="0">
                <a:solidFill>
                  <a:srgbClr val="5E6B7E"/>
                </a:solidFill>
                <a:latin typeface="Inter"/>
              </a:rPr>
              <a:t>checks passed on the test bench</a:t>
            </a:r>
          </a:p>
        </p:txBody>
      </p:sp>
      <p:cxnSp>
        <p:nvCxnSpPr>
          <p:cNvPr id="9" name="Connector 8"/>
          <p:cNvCxnSpPr/>
          <p:nvPr/>
        </p:nvCxnSpPr>
        <p:spPr>
          <a:xfrm>
            <a:off x="8778240" y="3063240"/>
            <a:ext cx="2590495" cy="0"/>
          </a:xfrm>
          <a:prstGeom prst="line">
            <a:avLst/>
          </a:prstGeom>
          <a:ln w="9525">
            <a:solidFill>
              <a:srgbClr val="D9DEE6"/>
            </a:solidFill>
          </a:ln>
        </p:spPr>
      </p:cxnSp>
      <p:sp>
        <p:nvSpPr>
          <p:cNvPr id="10" name="TextBox 9"/>
          <p:cNvSpPr txBox="1"/>
          <p:nvPr/>
        </p:nvSpPr>
        <p:spPr>
          <a:xfrm>
            <a:off x="8778240" y="3246120"/>
            <a:ext cx="2590495" cy="457200"/>
          </a:xfrm>
          <a:prstGeom prst="rect">
            <a:avLst/>
          </a:prstGeom>
          <a:noFill/>
        </p:spPr>
        <p:txBody>
          <a:bodyPr wrap="square" lIns="0" rIns="0" tIns="0" bIns="0" anchor="t">
            <a:spAutoFit/>
          </a:bodyPr>
          <a:lstStyle/>
          <a:p>
            <a:pPr algn="l">
              <a:lnSpc>
                <a:spcPct val="100000"/>
              </a:lnSpc>
              <a:spcAft>
                <a:spcPts val="0"/>
              </a:spcAft>
            </a:pPr>
            <a:r>
              <a:rPr sz="2200" b="1">
                <a:solidFill>
                  <a:srgbClr val="0A1A33"/>
                </a:solidFill>
                <a:latin typeface="Inter"/>
              </a:rPr>
              <a:t>5</a:t>
            </a:r>
          </a:p>
        </p:txBody>
      </p:sp>
      <p:sp>
        <p:nvSpPr>
          <p:cNvPr id="11" name="TextBox 10"/>
          <p:cNvSpPr txBox="1"/>
          <p:nvPr/>
        </p:nvSpPr>
        <p:spPr>
          <a:xfrm>
            <a:off x="8778240" y="3657600"/>
            <a:ext cx="2590495" cy="548640"/>
          </a:xfrm>
          <a:prstGeom prst="rect">
            <a:avLst/>
          </a:prstGeom>
          <a:noFill/>
        </p:spPr>
        <p:txBody>
          <a:bodyPr wrap="square" lIns="0" rIns="0" tIns="0" bIns="0" anchor="t">
            <a:spAutoFit/>
          </a:bodyPr>
          <a:lstStyle/>
          <a:p>
            <a:pPr algn="l">
              <a:lnSpc>
                <a:spcPct val="110000"/>
              </a:lnSpc>
              <a:spcAft>
                <a:spcPts val="0"/>
              </a:spcAft>
            </a:pPr>
            <a:r>
              <a:rPr sz="1200" b="0">
                <a:solidFill>
                  <a:srgbClr val="5E6B7E"/>
                </a:solidFill>
                <a:latin typeface="Inter"/>
              </a:rPr>
              <a:t>kinds of personal data masked before the model</a:t>
            </a:r>
          </a:p>
        </p:txBody>
      </p:sp>
      <p:cxnSp>
        <p:nvCxnSpPr>
          <p:cNvPr id="12" name="Connector 11"/>
          <p:cNvCxnSpPr/>
          <p:nvPr/>
        </p:nvCxnSpPr>
        <p:spPr>
          <a:xfrm>
            <a:off x="8778240" y="4297680"/>
            <a:ext cx="2590495" cy="0"/>
          </a:xfrm>
          <a:prstGeom prst="line">
            <a:avLst/>
          </a:prstGeom>
          <a:ln w="9525">
            <a:solidFill>
              <a:srgbClr val="D9DEE6"/>
            </a:solidFill>
          </a:ln>
        </p:spPr>
      </p:cxnSp>
      <p:sp>
        <p:nvSpPr>
          <p:cNvPr id="13" name="TextBox 12"/>
          <p:cNvSpPr txBox="1"/>
          <p:nvPr/>
        </p:nvSpPr>
        <p:spPr>
          <a:xfrm>
            <a:off x="8778240" y="4480560"/>
            <a:ext cx="2590495" cy="457200"/>
          </a:xfrm>
          <a:prstGeom prst="rect">
            <a:avLst/>
          </a:prstGeom>
          <a:noFill/>
        </p:spPr>
        <p:txBody>
          <a:bodyPr wrap="square" lIns="0" rIns="0" tIns="0" bIns="0" anchor="t">
            <a:spAutoFit/>
          </a:bodyPr>
          <a:lstStyle/>
          <a:p>
            <a:pPr algn="l">
              <a:lnSpc>
                <a:spcPct val="100000"/>
              </a:lnSpc>
              <a:spcAft>
                <a:spcPts val="0"/>
              </a:spcAft>
            </a:pPr>
            <a:r>
              <a:rPr sz="2200" b="1">
                <a:solidFill>
                  <a:srgbClr val="0A1A33"/>
                </a:solidFill>
                <a:latin typeface="Inter"/>
              </a:rPr>
              <a:t>SHA-256</a:t>
            </a:r>
          </a:p>
        </p:txBody>
      </p:sp>
      <p:sp>
        <p:nvSpPr>
          <p:cNvPr id="14" name="TextBox 13"/>
          <p:cNvSpPr txBox="1"/>
          <p:nvPr/>
        </p:nvSpPr>
        <p:spPr>
          <a:xfrm>
            <a:off x="8778240" y="4892040"/>
            <a:ext cx="2590495" cy="548640"/>
          </a:xfrm>
          <a:prstGeom prst="rect">
            <a:avLst/>
          </a:prstGeom>
          <a:noFill/>
        </p:spPr>
        <p:txBody>
          <a:bodyPr wrap="square" lIns="0" rIns="0" tIns="0" bIns="0" anchor="t">
            <a:spAutoFit/>
          </a:bodyPr>
          <a:lstStyle/>
          <a:p>
            <a:pPr algn="l">
              <a:lnSpc>
                <a:spcPct val="110000"/>
              </a:lnSpc>
              <a:spcAft>
                <a:spcPts val="0"/>
              </a:spcAft>
            </a:pPr>
            <a:r>
              <a:rPr sz="1200" b="0">
                <a:solidFill>
                  <a:srgbClr val="5E6B7E"/>
                </a:solidFill>
                <a:latin typeface="Inter"/>
              </a:rPr>
              <a:t>chain over every step of every case</a:t>
            </a:r>
          </a:p>
        </p:txBody>
      </p:sp>
      <p:sp>
        <p:nvSpPr>
          <p:cNvPr id="15" name="TextBox 14"/>
          <p:cNvSpPr txBox="1"/>
          <p:nvPr/>
        </p:nvSpPr>
        <p:spPr>
          <a:xfrm>
            <a:off x="822960" y="6355080"/>
            <a:ext cx="9692640" cy="274320"/>
          </a:xfrm>
          <a:prstGeom prst="rect">
            <a:avLst/>
          </a:prstGeom>
          <a:noFill/>
        </p:spPr>
        <p:txBody>
          <a:bodyPr wrap="square" lIns="0" rIns="0" tIns="0" bIns="0" anchor="t">
            <a:spAutoFit/>
          </a:bodyPr>
          <a:lstStyle/>
          <a:p>
            <a:pPr algn="l">
              <a:lnSpc>
                <a:spcPct val="100000"/>
              </a:lnSpc>
              <a:spcAft>
                <a:spcPts val="0"/>
              </a:spcAft>
            </a:pPr>
            <a:r>
              <a:rPr sz="800" b="0">
                <a:solidFill>
                  <a:srgbClr val="5E6B7E"/>
                </a:solidFill>
                <a:latin typeface="Inter"/>
              </a:rPr>
              <a:t>Test bench in the repository (EvidenceVerifier and HiddenTextShield tests), 12 generated PDFs,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A33"/>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9AA8BF"/>
                </a:solidFill>
                <a:latin typeface="Inter"/>
              </a:rPr>
              <a:t>09</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8DB0F5"/>
                </a:solidFill>
                <a:latin typeface="Inter"/>
              </a:rPr>
              <a:t>RESULTS</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FFFFFF"/>
                </a:solidFill>
                <a:latin typeface="Inter"/>
              </a:rPr>
              <a:t>23 caught. 0 missed. 0 false alarms.</a:t>
            </a:r>
          </a:p>
        </p:txBody>
      </p:sp>
      <p:sp>
        <p:nvSpPr>
          <p:cNvPr id="5" name="TextBox 4"/>
          <p:cNvSpPr txBox="1"/>
          <p:nvPr/>
        </p:nvSpPr>
        <p:spPr>
          <a:xfrm>
            <a:off x="822960" y="1463040"/>
            <a:ext cx="5943600" cy="365760"/>
          </a:xfrm>
          <a:prstGeom prst="rect">
            <a:avLst/>
          </a:prstGeom>
          <a:noFill/>
        </p:spPr>
        <p:txBody>
          <a:bodyPr wrap="square" lIns="0" rIns="0" tIns="0" bIns="0" anchor="t">
            <a:spAutoFit/>
          </a:bodyPr>
          <a:lstStyle/>
          <a:p>
            <a:pPr algn="l">
              <a:lnSpc>
                <a:spcPct val="100000"/>
              </a:lnSpc>
              <a:spcAft>
                <a:spcPts val="0"/>
              </a:spcAft>
            </a:pPr>
            <a:r>
              <a:rPr sz="1300" b="0">
                <a:solidFill>
                  <a:srgbClr val="9AA8BF"/>
                </a:solidFill>
                <a:latin typeface="Inter"/>
              </a:rPr>
              <a:t>Expected actions vs. caught, last evaluation run</a:t>
            </a:r>
          </a:p>
        </p:txBody>
      </p:sp>
      <p:graphicFrame>
        <p:nvGraphicFramePr>
          <p:cNvPr id="6" name="Chart 5"/>
          <p:cNvGraphicFramePr>
            <a:graphicFrameLocks noGrp="1"/>
          </p:cNvGraphicFramePr>
          <p:nvPr/>
        </p:nvGraphicFramePr>
        <p:xfrm>
          <a:off x="731520" y="1828800"/>
          <a:ext cx="6035040" cy="4023360"/>
        </p:xfrm>
        <a:graphic>
          <a:graphicData uri="http://schemas.openxmlformats.org/drawingml/2006/chart">
            <c:chart xmlns:c="http://schemas.openxmlformats.org/drawingml/2006/chart" r:id="rId3"/>
          </a:graphicData>
        </a:graphic>
      </p:graphicFrame>
      <p:sp>
        <p:nvSpPr>
          <p:cNvPr id="7" name="TextBox 6"/>
          <p:cNvSpPr txBox="1"/>
          <p:nvPr/>
        </p:nvSpPr>
        <p:spPr>
          <a:xfrm>
            <a:off x="7406640" y="201168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8DB0F5"/>
                </a:solidFill>
                <a:latin typeface="Inter"/>
              </a:rPr>
              <a:t>0</a:t>
            </a:r>
          </a:p>
        </p:txBody>
      </p:sp>
      <p:sp>
        <p:nvSpPr>
          <p:cNvPr id="8" name="TextBox 7"/>
          <p:cNvSpPr txBox="1"/>
          <p:nvPr/>
        </p:nvSpPr>
        <p:spPr>
          <a:xfrm>
            <a:off x="7406640" y="2468880"/>
            <a:ext cx="3962095" cy="457200"/>
          </a:xfrm>
          <a:prstGeom prst="rect">
            <a:avLst/>
          </a:prstGeom>
          <a:noFill/>
        </p:spPr>
        <p:txBody>
          <a:bodyPr wrap="square" lIns="0" rIns="0" tIns="0" bIns="0" anchor="t">
            <a:spAutoFit/>
          </a:bodyPr>
          <a:lstStyle/>
          <a:p>
            <a:pPr algn="l">
              <a:lnSpc>
                <a:spcPct val="100000"/>
              </a:lnSpc>
              <a:spcAft>
                <a:spcPts val="0"/>
              </a:spcAft>
            </a:pPr>
            <a:r>
              <a:rPr sz="1200" b="0">
                <a:solidFill>
                  <a:srgbClr val="9AA8BF"/>
                </a:solidFill>
                <a:latin typeface="Inter"/>
              </a:rPr>
              <a:t>missed indicia, on both sets</a:t>
            </a:r>
          </a:p>
        </p:txBody>
      </p:sp>
      <p:cxnSp>
        <p:nvCxnSpPr>
          <p:cNvPr id="9" name="Connector 8"/>
          <p:cNvCxnSpPr/>
          <p:nvPr/>
        </p:nvCxnSpPr>
        <p:spPr>
          <a:xfrm>
            <a:off x="7406640" y="3063240"/>
            <a:ext cx="3962095" cy="0"/>
          </a:xfrm>
          <a:prstGeom prst="line">
            <a:avLst/>
          </a:prstGeom>
          <a:ln w="9525">
            <a:solidFill>
              <a:srgbClr val="2A3B5C"/>
            </a:solidFill>
          </a:ln>
        </p:spPr>
      </p:cxnSp>
      <p:sp>
        <p:nvSpPr>
          <p:cNvPr id="10" name="TextBox 9"/>
          <p:cNvSpPr txBox="1"/>
          <p:nvPr/>
        </p:nvSpPr>
        <p:spPr>
          <a:xfrm>
            <a:off x="7406640" y="324612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FFFFFF"/>
                </a:solidFill>
                <a:latin typeface="Inter"/>
              </a:rPr>
              <a:t>0.03 ms</a:t>
            </a:r>
          </a:p>
        </p:txBody>
      </p:sp>
      <p:sp>
        <p:nvSpPr>
          <p:cNvPr id="11" name="TextBox 10"/>
          <p:cNvSpPr txBox="1"/>
          <p:nvPr/>
        </p:nvSpPr>
        <p:spPr>
          <a:xfrm>
            <a:off x="7406640" y="3703320"/>
            <a:ext cx="3962095" cy="457200"/>
          </a:xfrm>
          <a:prstGeom prst="rect">
            <a:avLst/>
          </a:prstGeom>
          <a:noFill/>
        </p:spPr>
        <p:txBody>
          <a:bodyPr wrap="square" lIns="0" rIns="0" tIns="0" bIns="0" anchor="t">
            <a:spAutoFit/>
          </a:bodyPr>
          <a:lstStyle/>
          <a:p>
            <a:pPr algn="l">
              <a:lnSpc>
                <a:spcPct val="100000"/>
              </a:lnSpc>
              <a:spcAft>
                <a:spcPts val="0"/>
              </a:spcAft>
            </a:pPr>
            <a:r>
              <a:rPr sz="1200" b="0">
                <a:solidFill>
                  <a:srgbClr val="9AA8BF"/>
                </a:solidFill>
                <a:latin typeface="Inter"/>
              </a:rPr>
              <a:t>per rule evaluation, the code only</a:t>
            </a:r>
          </a:p>
        </p:txBody>
      </p:sp>
      <p:cxnSp>
        <p:nvCxnSpPr>
          <p:cNvPr id="12" name="Connector 11"/>
          <p:cNvCxnSpPr/>
          <p:nvPr/>
        </p:nvCxnSpPr>
        <p:spPr>
          <a:xfrm>
            <a:off x="7406640" y="4297680"/>
            <a:ext cx="3962095" cy="0"/>
          </a:xfrm>
          <a:prstGeom prst="line">
            <a:avLst/>
          </a:prstGeom>
          <a:ln w="9525">
            <a:solidFill>
              <a:srgbClr val="2A3B5C"/>
            </a:solidFill>
          </a:ln>
        </p:spPr>
      </p:cxnSp>
      <p:sp>
        <p:nvSpPr>
          <p:cNvPr id="13" name="TextBox 12"/>
          <p:cNvSpPr txBox="1"/>
          <p:nvPr/>
        </p:nvSpPr>
        <p:spPr>
          <a:xfrm>
            <a:off x="7406640" y="4480560"/>
            <a:ext cx="3962095" cy="457200"/>
          </a:xfrm>
          <a:prstGeom prst="rect">
            <a:avLst/>
          </a:prstGeom>
          <a:noFill/>
        </p:spPr>
        <p:txBody>
          <a:bodyPr wrap="square" lIns="0" rIns="0" tIns="0" bIns="0" anchor="t">
            <a:spAutoFit/>
          </a:bodyPr>
          <a:lstStyle/>
          <a:p>
            <a:pPr algn="l">
              <a:lnSpc>
                <a:spcPct val="100000"/>
              </a:lnSpc>
              <a:spcAft>
                <a:spcPts val="0"/>
              </a:spcAft>
            </a:pPr>
            <a:r>
              <a:rPr sz="2600" b="1">
                <a:solidFill>
                  <a:srgbClr val="FFFFFF"/>
                </a:solidFill>
                <a:latin typeface="Inter"/>
              </a:rPr>
              <a:t>1,600+</a:t>
            </a:r>
          </a:p>
        </p:txBody>
      </p:sp>
      <p:sp>
        <p:nvSpPr>
          <p:cNvPr id="14" name="TextBox 13"/>
          <p:cNvSpPr txBox="1"/>
          <p:nvPr/>
        </p:nvSpPr>
        <p:spPr>
          <a:xfrm>
            <a:off x="7406640" y="4937760"/>
            <a:ext cx="3962095" cy="457200"/>
          </a:xfrm>
          <a:prstGeom prst="rect">
            <a:avLst/>
          </a:prstGeom>
          <a:noFill/>
        </p:spPr>
        <p:txBody>
          <a:bodyPr wrap="square" lIns="0" rIns="0" tIns="0" bIns="0" anchor="t">
            <a:spAutoFit/>
          </a:bodyPr>
          <a:lstStyle/>
          <a:p>
            <a:pPr algn="l">
              <a:lnSpc>
                <a:spcPct val="100000"/>
              </a:lnSpc>
              <a:spcAft>
                <a:spcPts val="0"/>
              </a:spcAft>
            </a:pPr>
            <a:r>
              <a:rPr sz="1200" b="0">
                <a:solidFill>
                  <a:srgbClr val="9AA8BF"/>
                </a:solidFill>
                <a:latin typeface="Inter"/>
              </a:rPr>
              <a:t>automated tests passing on every build</a:t>
            </a:r>
          </a:p>
        </p:txBody>
      </p:sp>
      <p:sp>
        <p:nvSpPr>
          <p:cNvPr id="15" name="TextBox 14"/>
          <p:cNvSpPr txBox="1"/>
          <p:nvPr/>
        </p:nvSpPr>
        <p:spPr>
          <a:xfrm>
            <a:off x="822960" y="6355080"/>
            <a:ext cx="9692640" cy="274320"/>
          </a:xfrm>
          <a:prstGeom prst="rect">
            <a:avLst/>
          </a:prstGeom>
          <a:noFill/>
        </p:spPr>
        <p:txBody>
          <a:bodyPr wrap="square" lIns="0" rIns="0" tIns="0" bIns="0" anchor="t">
            <a:spAutoFit/>
          </a:bodyPr>
          <a:lstStyle/>
          <a:p>
            <a:pPr algn="l">
              <a:lnSpc>
                <a:spcPct val="100000"/>
              </a:lnSpc>
              <a:spcAft>
                <a:spcPts val="0"/>
              </a:spcAft>
            </a:pPr>
            <a:r>
              <a:rPr sz="800" b="0">
                <a:solidFill>
                  <a:srgbClr val="9AA8BF"/>
                </a:solidFill>
                <a:latin typeface="Inter"/>
              </a:rPr>
              <a:t>Correct answers written before the code. We do not claim 100% accuracy; time saved per case is not measured yet.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0" y="6355080"/>
            <a:ext cx="411480" cy="274320"/>
          </a:xfrm>
          <a:prstGeom prst="rect">
            <a:avLst/>
          </a:prstGeom>
          <a:noFill/>
        </p:spPr>
        <p:txBody>
          <a:bodyPr wrap="square" lIns="0" rIns="0" tIns="0" bIns="0" anchor="t">
            <a:spAutoFit/>
          </a:bodyPr>
          <a:lstStyle/>
          <a:p>
            <a:pPr algn="r">
              <a:lnSpc>
                <a:spcPct val="100000"/>
              </a:lnSpc>
              <a:spcAft>
                <a:spcPts val="0"/>
              </a:spcAft>
            </a:pPr>
            <a:r>
              <a:rPr sz="900" b="0">
                <a:solidFill>
                  <a:srgbClr val="5E6B7E"/>
                </a:solidFill>
                <a:latin typeface="Inter"/>
              </a:rPr>
              <a:t>10</a:t>
            </a:r>
          </a:p>
        </p:txBody>
      </p:sp>
      <p:sp>
        <p:nvSpPr>
          <p:cNvPr id="3" name="TextBox 2"/>
          <p:cNvSpPr txBox="1"/>
          <p:nvPr/>
        </p:nvSpPr>
        <p:spPr>
          <a:xfrm>
            <a:off x="822960" y="640080"/>
            <a:ext cx="10545775"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THE ASK</a:t>
            </a:r>
          </a:p>
        </p:txBody>
      </p:sp>
      <p:sp>
        <p:nvSpPr>
          <p:cNvPr id="4" name="TextBox 3"/>
          <p:cNvSpPr txBox="1"/>
          <p:nvPr/>
        </p:nvSpPr>
        <p:spPr>
          <a:xfrm>
            <a:off x="822960" y="914400"/>
            <a:ext cx="10545775" cy="822960"/>
          </a:xfrm>
          <a:prstGeom prst="rect">
            <a:avLst/>
          </a:prstGeom>
          <a:noFill/>
        </p:spPr>
        <p:txBody>
          <a:bodyPr wrap="square" lIns="0" rIns="0" tIns="0" bIns="0" anchor="t">
            <a:spAutoFit/>
          </a:bodyPr>
          <a:lstStyle/>
          <a:p>
            <a:pPr algn="l">
              <a:lnSpc>
                <a:spcPct val="95000"/>
              </a:lnSpc>
              <a:spcAft>
                <a:spcPts val="0"/>
              </a:spcAft>
            </a:pPr>
            <a:r>
              <a:rPr sz="2800" b="1">
                <a:solidFill>
                  <a:srgbClr val="0A1A33"/>
                </a:solidFill>
                <a:latin typeface="Inter"/>
              </a:rPr>
              <a:t>A shadow pilot, then a decision.</a:t>
            </a:r>
          </a:p>
        </p:txBody>
      </p:sp>
      <p:sp>
        <p:nvSpPr>
          <p:cNvPr id="5" name="Rectangle 4"/>
          <p:cNvSpPr/>
          <p:nvPr/>
        </p:nvSpPr>
        <p:spPr>
          <a:xfrm>
            <a:off x="822960" y="1828800"/>
            <a:ext cx="3195218" cy="45720"/>
          </a:xfrm>
          <a:prstGeom prst="rect">
            <a:avLst/>
          </a:prstGeom>
          <a:solidFill>
            <a:srgbClr val="0A1A33"/>
          </a:solidFill>
          <a:ln>
            <a:noFill/>
          </a:ln>
          <a:effectLst/>
        </p:spPr>
        <p:txBody>
          <a:bodyPr rtlCol="0" anchor="ctr"/>
          <a:lstStyle/>
          <a:p>
            <a:pPr algn="ctr"/>
          </a:p>
        </p:txBody>
      </p:sp>
      <p:sp>
        <p:nvSpPr>
          <p:cNvPr id="6" name="TextBox 5"/>
          <p:cNvSpPr txBox="1"/>
          <p:nvPr/>
        </p:nvSpPr>
        <p:spPr>
          <a:xfrm>
            <a:off x="822960" y="2103120"/>
            <a:ext cx="3149498" cy="457200"/>
          </a:xfrm>
          <a:prstGeom prst="rect">
            <a:avLst/>
          </a:prstGeom>
          <a:noFill/>
        </p:spPr>
        <p:txBody>
          <a:bodyPr wrap="square" lIns="0" rIns="0" tIns="0" bIns="0" anchor="t">
            <a:spAutoFit/>
          </a:bodyPr>
          <a:lstStyle/>
          <a:p>
            <a:pPr algn="l">
              <a:lnSpc>
                <a:spcPct val="100000"/>
              </a:lnSpc>
              <a:spcAft>
                <a:spcPts val="0"/>
              </a:spcAft>
            </a:pPr>
            <a:r>
              <a:rPr sz="2000" b="1">
                <a:solidFill>
                  <a:srgbClr val="2557D6"/>
                </a:solidFill>
                <a:latin typeface="Inter"/>
              </a:rPr>
              <a:t>1  </a:t>
            </a:r>
            <a:r>
              <a:rPr sz="2000" b="1">
                <a:solidFill>
                  <a:srgbClr val="0A1A33"/>
                </a:solidFill>
                <a:latin typeface="Inter"/>
              </a:rPr>
              <a:t>Connect</a:t>
            </a:r>
          </a:p>
        </p:txBody>
      </p:sp>
      <p:sp>
        <p:nvSpPr>
          <p:cNvPr id="7" name="TextBox 6"/>
          <p:cNvSpPr txBox="1"/>
          <p:nvPr/>
        </p:nvSpPr>
        <p:spPr>
          <a:xfrm>
            <a:off x="822960" y="2651760"/>
            <a:ext cx="3058058" cy="1097280"/>
          </a:xfrm>
          <a:prstGeom prst="rect">
            <a:avLst/>
          </a:prstGeom>
          <a:noFill/>
        </p:spPr>
        <p:txBody>
          <a:bodyPr wrap="square" lIns="0" rIns="0" tIns="0" bIns="0" anchor="t">
            <a:spAutoFit/>
          </a:bodyPr>
          <a:lstStyle/>
          <a:p>
            <a:pPr algn="l">
              <a:lnSpc>
                <a:spcPct val="115000"/>
              </a:lnSpc>
              <a:spcAft>
                <a:spcPts val="0"/>
              </a:spcAft>
            </a:pPr>
            <a:r>
              <a:rPr sz="1400" b="0">
                <a:solidFill>
                  <a:srgbClr val="5E6B7E"/>
                </a:solidFill>
                <a:latin typeface="Inter"/>
              </a:rPr>
              <a:t>A read-only copy of the data-change feed. Nothing changes in production.</a:t>
            </a:r>
          </a:p>
        </p:txBody>
      </p:sp>
      <p:sp>
        <p:nvSpPr>
          <p:cNvPr id="8" name="Rectangle 7"/>
          <p:cNvSpPr/>
          <p:nvPr/>
        </p:nvSpPr>
        <p:spPr>
          <a:xfrm>
            <a:off x="4338218" y="1828800"/>
            <a:ext cx="3195218" cy="45720"/>
          </a:xfrm>
          <a:prstGeom prst="rect">
            <a:avLst/>
          </a:prstGeom>
          <a:solidFill>
            <a:srgbClr val="2557D6"/>
          </a:solidFill>
          <a:ln>
            <a:noFill/>
          </a:ln>
          <a:effectLst/>
        </p:spPr>
        <p:txBody>
          <a:bodyPr rtlCol="0" anchor="ctr"/>
          <a:lstStyle/>
          <a:p>
            <a:pPr algn="ctr"/>
          </a:p>
        </p:txBody>
      </p:sp>
      <p:sp>
        <p:nvSpPr>
          <p:cNvPr id="9" name="TextBox 8"/>
          <p:cNvSpPr txBox="1"/>
          <p:nvPr/>
        </p:nvSpPr>
        <p:spPr>
          <a:xfrm>
            <a:off x="4338218" y="2103120"/>
            <a:ext cx="3149498" cy="457200"/>
          </a:xfrm>
          <a:prstGeom prst="rect">
            <a:avLst/>
          </a:prstGeom>
          <a:noFill/>
        </p:spPr>
        <p:txBody>
          <a:bodyPr wrap="square" lIns="0" rIns="0" tIns="0" bIns="0" anchor="t">
            <a:spAutoFit/>
          </a:bodyPr>
          <a:lstStyle/>
          <a:p>
            <a:pPr algn="l">
              <a:lnSpc>
                <a:spcPct val="100000"/>
              </a:lnSpc>
              <a:spcAft>
                <a:spcPts val="0"/>
              </a:spcAft>
            </a:pPr>
            <a:r>
              <a:rPr sz="2000" b="1">
                <a:solidFill>
                  <a:srgbClr val="2557D6"/>
                </a:solidFill>
                <a:latin typeface="Inter"/>
              </a:rPr>
              <a:t>2  </a:t>
            </a:r>
            <a:r>
              <a:rPr sz="2000" b="1">
                <a:solidFill>
                  <a:srgbClr val="0A1A33"/>
                </a:solidFill>
                <a:latin typeface="Inter"/>
              </a:rPr>
              <a:t>Shadow</a:t>
            </a:r>
          </a:p>
        </p:txBody>
      </p:sp>
      <p:sp>
        <p:nvSpPr>
          <p:cNvPr id="10" name="TextBox 9"/>
          <p:cNvSpPr txBox="1"/>
          <p:nvPr/>
        </p:nvSpPr>
        <p:spPr>
          <a:xfrm>
            <a:off x="4338218" y="2651760"/>
            <a:ext cx="3058058" cy="1097280"/>
          </a:xfrm>
          <a:prstGeom prst="rect">
            <a:avLst/>
          </a:prstGeom>
          <a:noFill/>
        </p:spPr>
        <p:txBody>
          <a:bodyPr wrap="square" lIns="0" rIns="0" tIns="0" bIns="0" anchor="t">
            <a:spAutoFit/>
          </a:bodyPr>
          <a:lstStyle/>
          <a:p>
            <a:pPr algn="l">
              <a:lnSpc>
                <a:spcPct val="115000"/>
              </a:lnSpc>
              <a:spcAft>
                <a:spcPts val="0"/>
              </a:spcAft>
            </a:pPr>
            <a:r>
              <a:rPr sz="1400" b="0">
                <a:solidFill>
                  <a:srgbClr val="5E6B7E"/>
                </a:solidFill>
                <a:latin typeface="Inter"/>
              </a:rPr>
              <a:t>TRACE decides next to the operators on real changes. We compare decisions and time per case.</a:t>
            </a:r>
          </a:p>
        </p:txBody>
      </p:sp>
      <p:sp>
        <p:nvSpPr>
          <p:cNvPr id="11" name="Rectangle 10"/>
          <p:cNvSpPr/>
          <p:nvPr/>
        </p:nvSpPr>
        <p:spPr>
          <a:xfrm>
            <a:off x="7853476" y="1828800"/>
            <a:ext cx="3195218" cy="45720"/>
          </a:xfrm>
          <a:prstGeom prst="rect">
            <a:avLst/>
          </a:prstGeom>
          <a:solidFill>
            <a:srgbClr val="0A1A33"/>
          </a:solidFill>
          <a:ln>
            <a:noFill/>
          </a:ln>
          <a:effectLst/>
        </p:spPr>
        <p:txBody>
          <a:bodyPr rtlCol="0" anchor="ctr"/>
          <a:lstStyle/>
          <a:p>
            <a:pPr algn="ctr"/>
          </a:p>
        </p:txBody>
      </p:sp>
      <p:sp>
        <p:nvSpPr>
          <p:cNvPr id="12" name="TextBox 11"/>
          <p:cNvSpPr txBox="1"/>
          <p:nvPr/>
        </p:nvSpPr>
        <p:spPr>
          <a:xfrm>
            <a:off x="7853476" y="2103120"/>
            <a:ext cx="3149498" cy="457200"/>
          </a:xfrm>
          <a:prstGeom prst="rect">
            <a:avLst/>
          </a:prstGeom>
          <a:noFill/>
        </p:spPr>
        <p:txBody>
          <a:bodyPr wrap="square" lIns="0" rIns="0" tIns="0" bIns="0" anchor="t">
            <a:spAutoFit/>
          </a:bodyPr>
          <a:lstStyle/>
          <a:p>
            <a:pPr algn="l">
              <a:lnSpc>
                <a:spcPct val="100000"/>
              </a:lnSpc>
              <a:spcAft>
                <a:spcPts val="0"/>
              </a:spcAft>
            </a:pPr>
            <a:r>
              <a:rPr sz="2000" b="1">
                <a:solidFill>
                  <a:srgbClr val="2557D6"/>
                </a:solidFill>
                <a:latin typeface="Inter"/>
              </a:rPr>
              <a:t>3  </a:t>
            </a:r>
            <a:r>
              <a:rPr sz="2000" b="1">
                <a:solidFill>
                  <a:srgbClr val="0A1A33"/>
                </a:solidFill>
                <a:latin typeface="Inter"/>
              </a:rPr>
              <a:t>Decide</a:t>
            </a:r>
          </a:p>
        </p:txBody>
      </p:sp>
      <p:sp>
        <p:nvSpPr>
          <p:cNvPr id="13" name="TextBox 12"/>
          <p:cNvSpPr txBox="1"/>
          <p:nvPr/>
        </p:nvSpPr>
        <p:spPr>
          <a:xfrm>
            <a:off x="7853476" y="2651760"/>
            <a:ext cx="3058058" cy="1097280"/>
          </a:xfrm>
          <a:prstGeom prst="rect">
            <a:avLst/>
          </a:prstGeom>
          <a:noFill/>
        </p:spPr>
        <p:txBody>
          <a:bodyPr wrap="square" lIns="0" rIns="0" tIns="0" bIns="0" anchor="t">
            <a:spAutoFit/>
          </a:bodyPr>
          <a:lstStyle/>
          <a:p>
            <a:pPr algn="l">
              <a:lnSpc>
                <a:spcPct val="115000"/>
              </a:lnSpc>
              <a:spcAft>
                <a:spcPts val="0"/>
              </a:spcAft>
            </a:pPr>
            <a:r>
              <a:rPr sz="1400" b="0">
                <a:solidFill>
                  <a:srgbClr val="5E6B7E"/>
                </a:solidFill>
                <a:latin typeface="Inter"/>
              </a:rPr>
              <a:t>Go or no-go with the tax department, on measured results.</a:t>
            </a:r>
          </a:p>
        </p:txBody>
      </p:sp>
      <p:cxnSp>
        <p:nvCxnSpPr>
          <p:cNvPr id="14" name="Connector 13"/>
          <p:cNvCxnSpPr/>
          <p:nvPr/>
        </p:nvCxnSpPr>
        <p:spPr>
          <a:xfrm>
            <a:off x="822960" y="4206240"/>
            <a:ext cx="10545775" cy="0"/>
          </a:xfrm>
          <a:prstGeom prst="line">
            <a:avLst/>
          </a:prstGeom>
          <a:ln w="9525">
            <a:solidFill>
              <a:srgbClr val="D9DEE6"/>
            </a:solidFill>
          </a:ln>
        </p:spPr>
      </p:cxnSp>
      <p:sp>
        <p:nvSpPr>
          <p:cNvPr id="15" name="TextBox 14"/>
          <p:cNvSpPr txBox="1"/>
          <p:nvPr/>
        </p:nvSpPr>
        <p:spPr>
          <a:xfrm>
            <a:off x="822960" y="4389120"/>
            <a:ext cx="2743200" cy="274320"/>
          </a:xfrm>
          <a:prstGeom prst="rect">
            <a:avLst/>
          </a:prstGeom>
          <a:noFill/>
        </p:spPr>
        <p:txBody>
          <a:bodyPr wrap="square" lIns="0" rIns="0" tIns="0" bIns="0" anchor="t">
            <a:spAutoFit/>
          </a:bodyPr>
          <a:lstStyle/>
          <a:p>
            <a:pPr algn="l">
              <a:lnSpc>
                <a:spcPct val="100000"/>
              </a:lnSpc>
              <a:spcAft>
                <a:spcPts val="0"/>
              </a:spcAft>
            </a:pPr>
            <a:r>
              <a:rPr sz="1000" b="1" spc="200">
                <a:solidFill>
                  <a:srgbClr val="2557D6"/>
                </a:solidFill>
                <a:latin typeface="Inter"/>
              </a:rPr>
              <a:t>WHAT WE NEED FROM THE BANK</a:t>
            </a:r>
          </a:p>
        </p:txBody>
      </p:sp>
      <p:sp>
        <p:nvSpPr>
          <p:cNvPr id="16" name="TextBox 15"/>
          <p:cNvSpPr txBox="1"/>
          <p:nvPr/>
        </p:nvSpPr>
        <p:spPr>
          <a:xfrm>
            <a:off x="822960" y="4800600"/>
            <a:ext cx="3149498" cy="731520"/>
          </a:xfrm>
          <a:prstGeom prst="rect">
            <a:avLst/>
          </a:prstGeom>
          <a:noFill/>
        </p:spPr>
        <p:txBody>
          <a:bodyPr wrap="square" lIns="0" rIns="0" tIns="0" bIns="0" anchor="t">
            <a:spAutoFit/>
          </a:bodyPr>
          <a:lstStyle/>
          <a:p>
            <a:pPr algn="l">
              <a:lnSpc>
                <a:spcPct val="110000"/>
              </a:lnSpc>
              <a:spcAft>
                <a:spcPts val="0"/>
              </a:spcAft>
            </a:pPr>
            <a:r>
              <a:rPr sz="1500" b="0">
                <a:solidFill>
                  <a:srgbClr val="0A1A33"/>
                </a:solidFill>
                <a:latin typeface="Inter"/>
              </a:rPr>
              <a:t>A sample of real data changes</a:t>
            </a:r>
          </a:p>
        </p:txBody>
      </p:sp>
      <p:sp>
        <p:nvSpPr>
          <p:cNvPr id="17" name="TextBox 16"/>
          <p:cNvSpPr txBox="1"/>
          <p:nvPr/>
        </p:nvSpPr>
        <p:spPr>
          <a:xfrm>
            <a:off x="4338218" y="4800600"/>
            <a:ext cx="3149498" cy="731520"/>
          </a:xfrm>
          <a:prstGeom prst="rect">
            <a:avLst/>
          </a:prstGeom>
          <a:noFill/>
        </p:spPr>
        <p:txBody>
          <a:bodyPr wrap="square" lIns="0" rIns="0" tIns="0" bIns="0" anchor="t">
            <a:spAutoFit/>
          </a:bodyPr>
          <a:lstStyle/>
          <a:p>
            <a:pPr algn="l">
              <a:lnSpc>
                <a:spcPct val="110000"/>
              </a:lnSpc>
              <a:spcAft>
                <a:spcPts val="0"/>
              </a:spcAft>
            </a:pPr>
            <a:r>
              <a:rPr sz="1500" b="0">
                <a:solidFill>
                  <a:srgbClr val="0A1A33"/>
                </a:solidFill>
                <a:latin typeface="Inter"/>
              </a:rPr>
              <a:t>A review of our documented interpretations by the tax department</a:t>
            </a:r>
          </a:p>
        </p:txBody>
      </p:sp>
      <p:sp>
        <p:nvSpPr>
          <p:cNvPr id="18" name="TextBox 17"/>
          <p:cNvSpPr txBox="1"/>
          <p:nvPr/>
        </p:nvSpPr>
        <p:spPr>
          <a:xfrm>
            <a:off x="7853476" y="4800600"/>
            <a:ext cx="3149498" cy="731520"/>
          </a:xfrm>
          <a:prstGeom prst="rect">
            <a:avLst/>
          </a:prstGeom>
          <a:noFill/>
        </p:spPr>
        <p:txBody>
          <a:bodyPr wrap="square" lIns="0" rIns="0" tIns="0" bIns="0" anchor="t">
            <a:spAutoFit/>
          </a:bodyPr>
          <a:lstStyle/>
          <a:p>
            <a:pPr algn="l">
              <a:lnSpc>
                <a:spcPct val="110000"/>
              </a:lnSpc>
              <a:spcAft>
                <a:spcPts val="0"/>
              </a:spcAft>
            </a:pPr>
            <a:r>
              <a:rPr sz="1500" b="0">
                <a:solidFill>
                  <a:srgbClr val="0A1A33"/>
                </a:solidFill>
                <a:latin typeface="Inter"/>
              </a:rPr>
              <a:t>A model endpoint in an EU region or inside the bank</a:t>
            </a:r>
          </a:p>
        </p:txBody>
      </p:sp>
      <p:sp>
        <p:nvSpPr>
          <p:cNvPr id="19" name="TextBox 18"/>
          <p:cNvSpPr txBox="1"/>
          <p:nvPr/>
        </p:nvSpPr>
        <p:spPr>
          <a:xfrm>
            <a:off x="822960" y="5989320"/>
            <a:ext cx="10545775" cy="274320"/>
          </a:xfrm>
          <a:prstGeom prst="rect">
            <a:avLst/>
          </a:prstGeom>
          <a:noFill/>
        </p:spPr>
        <p:txBody>
          <a:bodyPr wrap="square" lIns="0" rIns="0" tIns="0" bIns="0" anchor="t">
            <a:spAutoFit/>
          </a:bodyPr>
          <a:lstStyle/>
          <a:p>
            <a:pPr algn="l">
              <a:lnSpc>
                <a:spcPct val="100000"/>
              </a:lnSpc>
              <a:spcAft>
                <a:spcPts val="0"/>
              </a:spcAft>
            </a:pPr>
            <a:r>
              <a:rPr sz="1100" b="1">
                <a:solidFill>
                  <a:srgbClr val="0A1A33"/>
                </a:solidFill>
                <a:latin typeface="Inter"/>
              </a:rPr>
              <a:t>TRACE  </a:t>
            </a:r>
            <a:r>
              <a:rPr sz="1100" b="0">
                <a:solidFill>
                  <a:srgbClr val="5E6B7E"/>
                </a:solidFill>
                <a:latin typeface="Inter"/>
              </a:rPr>
              <a:t>Code decides. AI explains. A person approves.</a:t>
            </a:r>
          </a:p>
        </p:txBody>
      </p:sp>
      <p:sp>
        <p:nvSpPr>
          <p:cNvPr id="20" name="TextBox 19"/>
          <p:cNvSpPr txBox="1"/>
          <p:nvPr/>
        </p:nvSpPr>
        <p:spPr>
          <a:xfrm>
            <a:off x="822960" y="6355080"/>
            <a:ext cx="9692640" cy="274320"/>
          </a:xfrm>
          <a:prstGeom prst="rect">
            <a:avLst/>
          </a:prstGeom>
          <a:noFill/>
        </p:spPr>
        <p:txBody>
          <a:bodyPr wrap="square" lIns="0" rIns="0" tIns="0" bIns="0" anchor="t">
            <a:spAutoFit/>
          </a:bodyPr>
          <a:lstStyle/>
          <a:p>
            <a:pPr algn="l">
              <a:lnSpc>
                <a:spcPct val="100000"/>
              </a:lnSpc>
              <a:spcAft>
                <a:spcPts val="0"/>
              </a:spcAft>
            </a:pPr>
            <a:r>
              <a:rPr sz="800" b="0">
                <a:solidFill>
                  <a:srgbClr val="5E6B7E"/>
                </a:solidFill>
                <a:latin typeface="Inter"/>
              </a:rPr>
              <a:t>hackathon-starter-k0ym.onrender.com  ·  github.com/AlexandruAchilleF/nexxt-ai-summit-hackathon  ·  Demo on synthetic data; core banking simulated.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 Tax Residency and Anomaly Correlation Engine</dc:title>
  <dc:subject/>
  <dc:creator>TRACE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